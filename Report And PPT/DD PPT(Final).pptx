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1.jpg" ContentType="image/jpe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70" r:id="rId8"/>
    <p:sldId id="262" r:id="rId9"/>
    <p:sldId id="263" r:id="rId10"/>
    <p:sldId id="264" r:id="rId11"/>
    <p:sldId id="272" r:id="rId12"/>
    <p:sldId id="273" r:id="rId13"/>
    <p:sldId id="274" r:id="rId14"/>
    <p:sldId id="276" r:id="rId15"/>
    <p:sldId id="275" r:id="rId16"/>
    <p:sldId id="271" r:id="rId17"/>
    <p:sldId id="265" r:id="rId18"/>
    <p:sldId id="266" r:id="rId19"/>
    <p:sldId id="267" r:id="rId20"/>
    <p:sldId id="268" r:id="rId21"/>
    <p:sldId id="269" r:id="rId22"/>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699430-A3AA-FB9A-2EBC-5FF959DCAC60}" v="2" dt="2025-08-29T12:52:53.953"/>
    <p1510:client id="{FAFE8C58-EA99-9ED9-7A82-1B5CE0533931}" v="99" dt="2025-08-29T12:31:42.09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498" y="53"/>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14300">
              <a:lnSpc>
                <a:spcPts val="1410"/>
              </a:lnSpc>
            </a:pPr>
            <a:fld id="{81D60167-4931-47E6-BA6A-407CBD079E47}" type="slidenum">
              <a:rPr spc="-50" dirty="0"/>
              <a:t>‹#›</a:t>
            </a:fld>
            <a:endParaRPr spc="-5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14300">
              <a:lnSpc>
                <a:spcPts val="1410"/>
              </a:lnSpc>
            </a:pPr>
            <a:fld id="{81D60167-4931-47E6-BA6A-407CBD079E47}" type="slidenum">
              <a:rPr spc="-50" dirty="0"/>
              <a:t>‹#›</a:t>
            </a:fld>
            <a:endParaRPr spc="-5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7" name="Holder 7"/>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14300">
              <a:lnSpc>
                <a:spcPts val="1410"/>
              </a:lnSpc>
            </a:pPr>
            <a:fld id="{81D60167-4931-47E6-BA6A-407CBD079E47}" type="slidenum">
              <a:rPr spc="-50" dirty="0"/>
              <a:t>‹#›</a:t>
            </a:fld>
            <a:endParaRPr spc="-5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5" name="Holder 5"/>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14300">
              <a:lnSpc>
                <a:spcPts val="1410"/>
              </a:lnSpc>
            </a:pPr>
            <a:fld id="{81D60167-4931-47E6-BA6A-407CBD079E47}" type="slidenum">
              <a:rPr spc="-50" dirty="0"/>
              <a:t>‹#›</a:t>
            </a:fld>
            <a:endParaRPr spc="-5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4" name="Holder 4"/>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14300">
              <a:lnSpc>
                <a:spcPts val="1410"/>
              </a:lnSpc>
            </a:pPr>
            <a:fld id="{81D60167-4931-47E6-BA6A-407CBD079E47}" type="slidenum">
              <a:rPr spc="-50" dirty="0"/>
              <a:t>‹#›</a:t>
            </a:fld>
            <a:endParaRPr spc="-5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g"/><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6701026"/>
            <a:ext cx="9144000" cy="156973"/>
          </a:xfrm>
          <a:prstGeom prst="rect">
            <a:avLst/>
          </a:prstGeom>
        </p:spPr>
      </p:pic>
      <p:pic>
        <p:nvPicPr>
          <p:cNvPr id="18" name="bg object 18"/>
          <p:cNvPicPr/>
          <p:nvPr/>
        </p:nvPicPr>
        <p:blipFill>
          <a:blip r:embed="rId8" cstate="print"/>
          <a:stretch>
            <a:fillRect/>
          </a:stretch>
        </p:blipFill>
        <p:spPr>
          <a:xfrm>
            <a:off x="6553200" y="228600"/>
            <a:ext cx="2057400" cy="635000"/>
          </a:xfrm>
          <a:prstGeom prst="rect">
            <a:avLst/>
          </a:prstGeom>
        </p:spPr>
      </p:pic>
      <p:sp>
        <p:nvSpPr>
          <p:cNvPr id="19" name="bg object 19"/>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20" name="bg object 20"/>
          <p:cNvPicPr/>
          <p:nvPr/>
        </p:nvPicPr>
        <p:blipFill>
          <a:blip r:embed="rId9" cstate="print"/>
          <a:stretch>
            <a:fillRect/>
          </a:stretch>
        </p:blipFill>
        <p:spPr>
          <a:xfrm>
            <a:off x="6553200" y="228600"/>
            <a:ext cx="2057400" cy="635000"/>
          </a:xfrm>
          <a:prstGeom prst="rect">
            <a:avLst/>
          </a:prstGeom>
        </p:spPr>
      </p:pic>
      <p:sp>
        <p:nvSpPr>
          <p:cNvPr id="21" name="bg object 21"/>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6553200" y="228600"/>
            <a:ext cx="1920875" cy="609600"/>
          </a:xfrm>
          <a:prstGeom prst="rect">
            <a:avLst/>
          </a:prstGeom>
        </p:spPr>
      </p:pic>
      <p:pic>
        <p:nvPicPr>
          <p:cNvPr id="23" name="bg object 23"/>
          <p:cNvPicPr/>
          <p:nvPr/>
        </p:nvPicPr>
        <p:blipFill>
          <a:blip r:embed="rId9" cstate="print"/>
          <a:stretch>
            <a:fillRect/>
          </a:stretch>
        </p:blipFill>
        <p:spPr>
          <a:xfrm>
            <a:off x="6553200" y="228600"/>
            <a:ext cx="2057400" cy="635000"/>
          </a:xfrm>
          <a:prstGeom prst="rect">
            <a:avLst/>
          </a:prstGeom>
        </p:spPr>
      </p:pic>
      <p:sp>
        <p:nvSpPr>
          <p:cNvPr id="24" name="bg object 24"/>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25" name="bg object 25"/>
          <p:cNvPicPr/>
          <p:nvPr/>
        </p:nvPicPr>
        <p:blipFill>
          <a:blip r:embed="rId9" cstate="print"/>
          <a:stretch>
            <a:fillRect/>
          </a:stretch>
        </p:blipFill>
        <p:spPr>
          <a:xfrm>
            <a:off x="6553200" y="228600"/>
            <a:ext cx="2057400" cy="635000"/>
          </a:xfrm>
          <a:prstGeom prst="rect">
            <a:avLst/>
          </a:prstGeom>
        </p:spPr>
      </p:pic>
      <p:sp>
        <p:nvSpPr>
          <p:cNvPr id="26" name="bg object 26"/>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27" name="bg object 27"/>
          <p:cNvPicPr/>
          <p:nvPr/>
        </p:nvPicPr>
        <p:blipFill>
          <a:blip r:embed="rId10" cstate="print"/>
          <a:stretch>
            <a:fillRect/>
          </a:stretch>
        </p:blipFill>
        <p:spPr>
          <a:xfrm>
            <a:off x="6553200" y="228600"/>
            <a:ext cx="1920875" cy="609600"/>
          </a:xfrm>
          <a:prstGeom prst="rect">
            <a:avLst/>
          </a:prstGeom>
        </p:spPr>
      </p:pic>
      <p:sp>
        <p:nvSpPr>
          <p:cNvPr id="2" name="Holder 2"/>
          <p:cNvSpPr>
            <a:spLocks noGrp="1"/>
          </p:cNvSpPr>
          <p:nvPr>
            <p:ph type="title"/>
          </p:nvPr>
        </p:nvSpPr>
        <p:spPr>
          <a:xfrm>
            <a:off x="1887092" y="108331"/>
            <a:ext cx="3413760" cy="592658"/>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52094" y="1653031"/>
            <a:ext cx="7961630" cy="3378835"/>
          </a:xfrm>
          <a:prstGeom prst="rect">
            <a:avLst/>
          </a:prstGeom>
        </p:spPr>
        <p:txBody>
          <a:bodyPr wrap="square" lIns="0" tIns="0" rIns="0" bIns="0">
            <a:spAutoFit/>
          </a:bodyPr>
          <a:lstStyle>
            <a:lvl1pPr>
              <a:defRPr sz="2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a:xfrm>
            <a:off x="8404606" y="6447704"/>
            <a:ext cx="241934" cy="194945"/>
          </a:xfrm>
          <a:prstGeom prst="rect">
            <a:avLst/>
          </a:prstGeom>
        </p:spPr>
        <p:txBody>
          <a:bodyPr wrap="square" lIns="0" tIns="0" rIns="0" bIns="0">
            <a:spAutoFit/>
          </a:bodyPr>
          <a:lstStyle>
            <a:lvl1pPr>
              <a:defRPr sz="1200" b="1" i="0">
                <a:solidFill>
                  <a:srgbClr val="006FC0"/>
                </a:solidFill>
                <a:latin typeface="Times New Roman"/>
                <a:cs typeface="Times New Roman"/>
              </a:defRPr>
            </a:lvl1pPr>
          </a:lstStyle>
          <a:p>
            <a:pPr marL="114300">
              <a:lnSpc>
                <a:spcPts val="1410"/>
              </a:lnSpc>
            </a:pPr>
            <a:fld id="{81D60167-4931-47E6-BA6A-407CBD079E47}" type="slidenum">
              <a:rPr spc="-50" dirty="0"/>
              <a:t>‹#›</a:t>
            </a:fld>
            <a:endParaRPr spc="-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3" name="object 3"/>
          <p:cNvPicPr/>
          <p:nvPr/>
        </p:nvPicPr>
        <p:blipFill>
          <a:blip r:embed="rId2" cstate="print"/>
          <a:stretch>
            <a:fillRect/>
          </a:stretch>
        </p:blipFill>
        <p:spPr>
          <a:xfrm>
            <a:off x="0" y="6701026"/>
            <a:ext cx="9144000" cy="156973"/>
          </a:xfrm>
          <a:prstGeom prst="rect">
            <a:avLst/>
          </a:prstGeom>
        </p:spPr>
      </p:pic>
      <p:grpSp>
        <p:nvGrpSpPr>
          <p:cNvPr id="4" name="object 4"/>
          <p:cNvGrpSpPr/>
          <p:nvPr/>
        </p:nvGrpSpPr>
        <p:grpSpPr>
          <a:xfrm>
            <a:off x="6146800" y="0"/>
            <a:ext cx="2997200" cy="876300"/>
            <a:chOff x="6146800" y="0"/>
            <a:chExt cx="2997200" cy="876300"/>
          </a:xfrm>
        </p:grpSpPr>
        <p:pic>
          <p:nvPicPr>
            <p:cNvPr id="5" name="object 5"/>
            <p:cNvPicPr/>
            <p:nvPr/>
          </p:nvPicPr>
          <p:blipFill>
            <a:blip r:embed="rId3" cstate="print"/>
            <a:stretch>
              <a:fillRect/>
            </a:stretch>
          </p:blipFill>
          <p:spPr>
            <a:xfrm>
              <a:off x="6553200" y="228600"/>
              <a:ext cx="2057400" cy="635000"/>
            </a:xfrm>
            <a:prstGeom prst="rect">
              <a:avLst/>
            </a:prstGeom>
          </p:spPr>
        </p:pic>
        <p:sp>
          <p:nvSpPr>
            <p:cNvPr id="6" name="object 6"/>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7" name="object 7"/>
            <p:cNvPicPr/>
            <p:nvPr/>
          </p:nvPicPr>
          <p:blipFill>
            <a:blip r:embed="rId4" cstate="print"/>
            <a:stretch>
              <a:fillRect/>
            </a:stretch>
          </p:blipFill>
          <p:spPr>
            <a:xfrm>
              <a:off x="6553200" y="228600"/>
              <a:ext cx="2057400" cy="635000"/>
            </a:xfrm>
            <a:prstGeom prst="rect">
              <a:avLst/>
            </a:prstGeom>
          </p:spPr>
        </p:pic>
        <p:sp>
          <p:nvSpPr>
            <p:cNvPr id="8" name="object 8"/>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9" name="object 9"/>
            <p:cNvPicPr/>
            <p:nvPr/>
          </p:nvPicPr>
          <p:blipFill>
            <a:blip r:embed="rId5" cstate="print"/>
            <a:stretch>
              <a:fillRect/>
            </a:stretch>
          </p:blipFill>
          <p:spPr>
            <a:xfrm>
              <a:off x="6553200" y="228600"/>
              <a:ext cx="1920875" cy="609600"/>
            </a:xfrm>
            <a:prstGeom prst="rect">
              <a:avLst/>
            </a:prstGeom>
          </p:spPr>
        </p:pic>
      </p:grpSp>
      <p:sp>
        <p:nvSpPr>
          <p:cNvPr id="10" name="object 10"/>
          <p:cNvSpPr txBox="1">
            <a:spLocks noGrp="1"/>
          </p:cNvSpPr>
          <p:nvPr>
            <p:ph type="title"/>
          </p:nvPr>
        </p:nvSpPr>
        <p:spPr>
          <a:xfrm>
            <a:off x="2997201" y="838200"/>
            <a:ext cx="3065780" cy="1190069"/>
          </a:xfrm>
          <a:prstGeom prst="rect">
            <a:avLst/>
          </a:prstGeom>
        </p:spPr>
        <p:txBody>
          <a:bodyPr vert="horz" wrap="square" lIns="0" tIns="142240" rIns="0" bIns="0" rtlCol="0" anchor="t">
            <a:spAutoFit/>
          </a:bodyPr>
          <a:lstStyle/>
          <a:p>
            <a:pPr marL="3175" algn="ctr">
              <a:spcBef>
                <a:spcPts val="1120"/>
              </a:spcBef>
            </a:pPr>
            <a:r>
              <a:rPr lang="en-US" sz="4000" b="1" spc="-10" dirty="0"/>
              <a:t>DoctorDirect</a:t>
            </a:r>
            <a:br>
              <a:rPr lang="en-US" sz="4000" b="1" spc="-10" dirty="0"/>
            </a:br>
            <a:r>
              <a:rPr lang="en-US" sz="2800" b="1" spc="-10" dirty="0"/>
              <a:t>IOHE</a:t>
            </a:r>
            <a:r>
              <a:rPr lang="en-IN" sz="2800" b="1" spc="-10" dirty="0"/>
              <a:t> Project</a:t>
            </a:r>
            <a:endParaRPr lang="en-US" sz="2800" dirty="0">
              <a:latin typeface="Times New Roman"/>
              <a:cs typeface="Times New Roman"/>
            </a:endParaRPr>
          </a:p>
        </p:txBody>
      </p:sp>
      <p:sp>
        <p:nvSpPr>
          <p:cNvPr id="11" name="object 11"/>
          <p:cNvSpPr txBox="1"/>
          <p:nvPr/>
        </p:nvSpPr>
        <p:spPr>
          <a:xfrm>
            <a:off x="1432686" y="2563444"/>
            <a:ext cx="6224905" cy="3238707"/>
          </a:xfrm>
          <a:prstGeom prst="rect">
            <a:avLst/>
          </a:prstGeom>
        </p:spPr>
        <p:txBody>
          <a:bodyPr vert="horz" wrap="square" lIns="0" tIns="12065" rIns="0" bIns="0" rtlCol="0" anchor="t">
            <a:spAutoFit/>
          </a:bodyPr>
          <a:lstStyle/>
          <a:p>
            <a:pPr algn="ctr">
              <a:lnSpc>
                <a:spcPct val="100000"/>
              </a:lnSpc>
              <a:spcBef>
                <a:spcPts val="95"/>
              </a:spcBef>
            </a:pPr>
            <a:r>
              <a:rPr sz="2800" b="1" spc="-50" dirty="0">
                <a:latin typeface="Times New Roman"/>
                <a:cs typeface="Times New Roman"/>
              </a:rPr>
              <a:t>Team</a:t>
            </a:r>
            <a:r>
              <a:rPr sz="2800" b="1" spc="-105" dirty="0">
                <a:latin typeface="Times New Roman"/>
                <a:cs typeface="Times New Roman"/>
              </a:rPr>
              <a:t> </a:t>
            </a:r>
            <a:r>
              <a:rPr sz="2800" b="1" spc="-10" dirty="0">
                <a:latin typeface="Times New Roman"/>
                <a:cs typeface="Times New Roman"/>
              </a:rPr>
              <a:t>Members:</a:t>
            </a:r>
            <a:endParaRPr sz="2800" dirty="0">
              <a:latin typeface="Times New Roman"/>
              <a:cs typeface="Times New Roman"/>
            </a:endParaRPr>
          </a:p>
          <a:p>
            <a:pPr marL="12700" marR="5080" algn="ctr">
              <a:lnSpc>
                <a:spcPct val="100000"/>
              </a:lnSpc>
              <a:spcBef>
                <a:spcPts val="20"/>
              </a:spcBef>
              <a:tabLst>
                <a:tab pos="1198245" algn="l"/>
              </a:tabLst>
            </a:pPr>
            <a:r>
              <a:rPr lang="en-US" sz="2400" b="1" spc="-10" dirty="0">
                <a:latin typeface="Times New Roman"/>
                <a:cs typeface="Times New Roman"/>
              </a:rPr>
              <a:t>Anubhav Garg </a:t>
            </a:r>
            <a:r>
              <a:rPr sz="2400" b="1" spc="-10" dirty="0">
                <a:latin typeface="Times New Roman"/>
                <a:cs typeface="Times New Roman"/>
              </a:rPr>
              <a:t>(</a:t>
            </a:r>
            <a:r>
              <a:rPr lang="en-US" sz="2400" b="1" spc="-10" dirty="0">
                <a:latin typeface="Times New Roman"/>
                <a:cs typeface="Times New Roman"/>
              </a:rPr>
              <a:t>2210991314</a:t>
            </a:r>
            <a:r>
              <a:rPr sz="2400" b="1" spc="-10" dirty="0">
                <a:latin typeface="Times New Roman"/>
                <a:cs typeface="Times New Roman"/>
              </a:rPr>
              <a:t>),</a:t>
            </a:r>
            <a:r>
              <a:rPr sz="2400" b="1" spc="-40" dirty="0">
                <a:latin typeface="Times New Roman"/>
                <a:cs typeface="Times New Roman"/>
              </a:rPr>
              <a:t> </a:t>
            </a:r>
            <a:r>
              <a:rPr lang="en-US" sz="2400" b="1" spc="-10" dirty="0">
                <a:latin typeface="Times New Roman"/>
                <a:cs typeface="Times New Roman"/>
              </a:rPr>
              <a:t>Anirudh Jamwal </a:t>
            </a:r>
            <a:r>
              <a:rPr sz="2400" b="1" spc="-10" dirty="0">
                <a:latin typeface="Times New Roman"/>
                <a:cs typeface="Times New Roman"/>
              </a:rPr>
              <a:t>(2210991</a:t>
            </a:r>
            <a:r>
              <a:rPr lang="en-US" sz="2400" b="1" spc="-10" dirty="0">
                <a:latin typeface="Times New Roman"/>
                <a:cs typeface="Times New Roman"/>
              </a:rPr>
              <a:t>267), Harsh Goyal </a:t>
            </a:r>
            <a:r>
              <a:rPr sz="2400" b="1" spc="-10" dirty="0">
                <a:latin typeface="Times New Roman"/>
                <a:cs typeface="Times New Roman"/>
              </a:rPr>
              <a:t>(2210991</a:t>
            </a:r>
            <a:r>
              <a:rPr lang="en-US" sz="2400" b="1" spc="-10" dirty="0">
                <a:latin typeface="Times New Roman"/>
                <a:cs typeface="Times New Roman"/>
              </a:rPr>
              <a:t>618</a:t>
            </a:r>
            <a:r>
              <a:rPr sz="2400" b="1" spc="-10" dirty="0">
                <a:latin typeface="Times New Roman"/>
                <a:cs typeface="Times New Roman"/>
              </a:rPr>
              <a:t>),</a:t>
            </a:r>
            <a:endParaRPr sz="2400" dirty="0">
              <a:latin typeface="Times New Roman"/>
              <a:cs typeface="Times New Roman"/>
            </a:endParaRPr>
          </a:p>
          <a:p>
            <a:pPr algn="ctr"/>
            <a:r>
              <a:rPr lang="en-US" sz="2400" b="1" spc="-10" dirty="0">
                <a:latin typeface="Times New Roman"/>
                <a:cs typeface="Times New Roman"/>
              </a:rPr>
              <a:t>Harsh Sharma </a:t>
            </a:r>
            <a:r>
              <a:rPr sz="2400" b="1" spc="-10" dirty="0">
                <a:latin typeface="Times New Roman"/>
                <a:cs typeface="Times New Roman"/>
              </a:rPr>
              <a:t>(</a:t>
            </a:r>
            <a:r>
              <a:rPr lang="en-US" sz="2400" b="1" spc="-10" dirty="0">
                <a:latin typeface="Times New Roman"/>
                <a:cs typeface="Times New Roman"/>
              </a:rPr>
              <a:t>2210991624</a:t>
            </a:r>
            <a:r>
              <a:rPr sz="2400" b="1" spc="-10" dirty="0">
                <a:latin typeface="Times New Roman"/>
                <a:cs typeface="Times New Roman"/>
              </a:rPr>
              <a:t>)</a:t>
            </a:r>
            <a:endParaRPr sz="2400" dirty="0">
              <a:latin typeface="Times New Roman"/>
              <a:cs typeface="Times New Roman"/>
            </a:endParaRPr>
          </a:p>
          <a:p>
            <a:pPr>
              <a:lnSpc>
                <a:spcPct val="100000"/>
              </a:lnSpc>
              <a:spcBef>
                <a:spcPts val="120"/>
              </a:spcBef>
            </a:pPr>
            <a:endParaRPr sz="2400" dirty="0">
              <a:latin typeface="Times New Roman"/>
              <a:cs typeface="Times New Roman"/>
            </a:endParaRPr>
          </a:p>
          <a:p>
            <a:pPr algn="ctr"/>
            <a:r>
              <a:rPr sz="2400" b="1" dirty="0">
                <a:latin typeface="Times New Roman"/>
                <a:cs typeface="Times New Roman"/>
              </a:rPr>
              <a:t>Supervised</a:t>
            </a:r>
            <a:r>
              <a:rPr sz="2400" b="1" spc="-50" dirty="0">
                <a:latin typeface="Times New Roman"/>
                <a:cs typeface="Times New Roman"/>
              </a:rPr>
              <a:t> </a:t>
            </a:r>
            <a:r>
              <a:rPr sz="2400" b="1" dirty="0">
                <a:latin typeface="Times New Roman"/>
                <a:cs typeface="Times New Roman"/>
              </a:rPr>
              <a:t>By:</a:t>
            </a:r>
            <a:r>
              <a:rPr sz="2400" b="1" spc="-50" dirty="0">
                <a:latin typeface="Times New Roman"/>
                <a:cs typeface="Times New Roman"/>
              </a:rPr>
              <a:t> </a:t>
            </a:r>
            <a:r>
              <a:rPr lang="en-US" sz="2400" b="1" spc="-50" dirty="0" err="1">
                <a:latin typeface="Times New Roman"/>
                <a:cs typeface="Times New Roman"/>
              </a:rPr>
              <a:t>Dr.Ajay</a:t>
            </a:r>
            <a:r>
              <a:rPr lang="en-US" sz="2400" b="1" spc="-50" dirty="0">
                <a:latin typeface="Times New Roman"/>
                <a:cs typeface="Times New Roman"/>
              </a:rPr>
              <a:t> Katiyar</a:t>
            </a:r>
            <a:endParaRPr lang="en-US" sz="2400" b="1" spc="-60" dirty="0">
              <a:latin typeface="Times New Roman"/>
              <a:cs typeface="Times New Roman"/>
            </a:endParaRPr>
          </a:p>
          <a:p>
            <a:pPr>
              <a:lnSpc>
                <a:spcPct val="100000"/>
              </a:lnSpc>
              <a:spcBef>
                <a:spcPts val="95"/>
              </a:spcBef>
            </a:pPr>
            <a:endParaRPr sz="2400" dirty="0">
              <a:latin typeface="Times New Roman"/>
              <a:cs typeface="Times New Roman"/>
            </a:endParaRPr>
          </a:p>
          <a:p>
            <a:pPr marL="473075" algn="ctr">
              <a:lnSpc>
                <a:spcPct val="100000"/>
              </a:lnSpc>
            </a:pPr>
            <a:r>
              <a:rPr sz="1800" dirty="0">
                <a:solidFill>
                  <a:srgbClr val="FF0000"/>
                </a:solidFill>
                <a:latin typeface="Times New Roman"/>
                <a:cs typeface="Times New Roman"/>
              </a:rPr>
              <a:t>Department</a:t>
            </a:r>
            <a:r>
              <a:rPr sz="1800" spc="-10" dirty="0">
                <a:solidFill>
                  <a:srgbClr val="FF0000"/>
                </a:solidFill>
                <a:latin typeface="Times New Roman"/>
                <a:cs typeface="Times New Roman"/>
              </a:rPr>
              <a:t> </a:t>
            </a:r>
            <a:r>
              <a:rPr sz="1800" dirty="0">
                <a:solidFill>
                  <a:srgbClr val="FF0000"/>
                </a:solidFill>
                <a:latin typeface="Times New Roman"/>
                <a:cs typeface="Times New Roman"/>
              </a:rPr>
              <a:t>of Computer</a:t>
            </a:r>
            <a:r>
              <a:rPr sz="1800" spc="5" dirty="0">
                <a:solidFill>
                  <a:srgbClr val="FF0000"/>
                </a:solidFill>
                <a:latin typeface="Times New Roman"/>
                <a:cs typeface="Times New Roman"/>
              </a:rPr>
              <a:t> </a:t>
            </a:r>
            <a:r>
              <a:rPr sz="1800" dirty="0">
                <a:solidFill>
                  <a:srgbClr val="FF0000"/>
                </a:solidFill>
                <a:latin typeface="Times New Roman"/>
                <a:cs typeface="Times New Roman"/>
              </a:rPr>
              <a:t>Science</a:t>
            </a:r>
            <a:r>
              <a:rPr sz="1800" spc="-20" dirty="0">
                <a:solidFill>
                  <a:srgbClr val="FF0000"/>
                </a:solidFill>
                <a:latin typeface="Times New Roman"/>
                <a:cs typeface="Times New Roman"/>
              </a:rPr>
              <a:t> </a:t>
            </a:r>
            <a:r>
              <a:rPr sz="1800" dirty="0">
                <a:solidFill>
                  <a:srgbClr val="FF0000"/>
                </a:solidFill>
                <a:latin typeface="Times New Roman"/>
                <a:cs typeface="Times New Roman"/>
              </a:rPr>
              <a:t>and</a:t>
            </a:r>
            <a:r>
              <a:rPr sz="1800" spc="-5" dirty="0">
                <a:solidFill>
                  <a:srgbClr val="FF0000"/>
                </a:solidFill>
                <a:latin typeface="Times New Roman"/>
                <a:cs typeface="Times New Roman"/>
              </a:rPr>
              <a:t> </a:t>
            </a:r>
            <a:r>
              <a:rPr sz="1800" spc="-10" dirty="0">
                <a:solidFill>
                  <a:srgbClr val="FF0000"/>
                </a:solidFill>
                <a:latin typeface="Times New Roman"/>
                <a:cs typeface="Times New Roman"/>
              </a:rPr>
              <a:t>Engineering</a:t>
            </a:r>
            <a:endParaRPr sz="1800" dirty="0">
              <a:latin typeface="Times New Roman"/>
              <a:cs typeface="Times New Roman"/>
            </a:endParaRPr>
          </a:p>
          <a:p>
            <a:pPr marL="463550" algn="ctr">
              <a:lnSpc>
                <a:spcPct val="100000"/>
              </a:lnSpc>
            </a:pPr>
            <a:r>
              <a:rPr sz="1800" dirty="0">
                <a:solidFill>
                  <a:srgbClr val="FF0000"/>
                </a:solidFill>
                <a:latin typeface="Times New Roman"/>
                <a:cs typeface="Times New Roman"/>
              </a:rPr>
              <a:t>Chitkara</a:t>
            </a:r>
            <a:r>
              <a:rPr sz="1800" spc="-50" dirty="0">
                <a:solidFill>
                  <a:srgbClr val="FF0000"/>
                </a:solidFill>
                <a:latin typeface="Times New Roman"/>
                <a:cs typeface="Times New Roman"/>
              </a:rPr>
              <a:t> </a:t>
            </a:r>
            <a:r>
              <a:rPr sz="1800" spc="-10" dirty="0">
                <a:solidFill>
                  <a:srgbClr val="FF0000"/>
                </a:solidFill>
                <a:latin typeface="Times New Roman"/>
                <a:cs typeface="Times New Roman"/>
              </a:rPr>
              <a:t>University,</a:t>
            </a:r>
            <a:r>
              <a:rPr sz="1800" spc="-60" dirty="0">
                <a:solidFill>
                  <a:srgbClr val="FF0000"/>
                </a:solidFill>
                <a:latin typeface="Times New Roman"/>
                <a:cs typeface="Times New Roman"/>
              </a:rPr>
              <a:t> </a:t>
            </a:r>
            <a:r>
              <a:rPr sz="1800" spc="-10" dirty="0">
                <a:solidFill>
                  <a:srgbClr val="FF0000"/>
                </a:solidFill>
                <a:latin typeface="Times New Roman"/>
                <a:cs typeface="Times New Roman"/>
              </a:rPr>
              <a:t>Punjab</a:t>
            </a:r>
            <a:endParaRPr sz="18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43" rIns="0" bIns="0" rtlCol="0">
            <a:spAutoFit/>
          </a:bodyPr>
          <a:lstStyle/>
          <a:p>
            <a:pPr marL="706120">
              <a:lnSpc>
                <a:spcPct val="100000"/>
              </a:lnSpc>
              <a:spcBef>
                <a:spcPts val="105"/>
              </a:spcBef>
            </a:pPr>
            <a:r>
              <a:rPr spc="-10"/>
              <a:t>Content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4300">
              <a:lnSpc>
                <a:spcPts val="1410"/>
              </a:lnSpc>
            </a:pPr>
            <a:fld id="{81D60167-4931-47E6-BA6A-407CBD079E47}" type="slidenum">
              <a:rPr spc="-50" dirty="0"/>
              <a:t>2</a:t>
            </a:fld>
            <a:endParaRPr spc="-50"/>
          </a:p>
        </p:txBody>
      </p:sp>
      <p:sp>
        <p:nvSpPr>
          <p:cNvPr id="3" name="object 3"/>
          <p:cNvSpPr txBox="1"/>
          <p:nvPr/>
        </p:nvSpPr>
        <p:spPr>
          <a:xfrm>
            <a:off x="402437" y="1022730"/>
            <a:ext cx="2237740" cy="4964430"/>
          </a:xfrm>
          <a:prstGeom prst="rect">
            <a:avLst/>
          </a:prstGeom>
        </p:spPr>
        <p:txBody>
          <a:bodyPr vert="horz" wrap="square" lIns="0" tIns="12700" rIns="0" bIns="0" rtlCol="0">
            <a:spAutoFit/>
          </a:bodyPr>
          <a:lstStyle/>
          <a:p>
            <a:pPr marL="469265" indent="-456565">
              <a:lnSpc>
                <a:spcPct val="100000"/>
              </a:lnSpc>
              <a:spcBef>
                <a:spcPts val="100"/>
              </a:spcBef>
              <a:buAutoNum type="arabicParenR"/>
              <a:tabLst>
                <a:tab pos="469265" algn="l"/>
              </a:tabLst>
            </a:pPr>
            <a:r>
              <a:rPr sz="1800" spc="-10" dirty="0">
                <a:latin typeface="Times New Roman"/>
                <a:cs typeface="Times New Roman"/>
              </a:rPr>
              <a:t>Abstract</a:t>
            </a:r>
            <a:endParaRPr sz="1800" dirty="0">
              <a:latin typeface="Times New Roman"/>
              <a:cs typeface="Times New Roman"/>
            </a:endParaRPr>
          </a:p>
          <a:p>
            <a:pPr marL="469265" indent="-456565">
              <a:lnSpc>
                <a:spcPct val="100000"/>
              </a:lnSpc>
              <a:spcBef>
                <a:spcPts val="1510"/>
              </a:spcBef>
              <a:buAutoNum type="arabicParenR"/>
              <a:tabLst>
                <a:tab pos="469265" algn="l"/>
              </a:tabLst>
            </a:pPr>
            <a:r>
              <a:rPr sz="1800" spc="-10" dirty="0">
                <a:latin typeface="Times New Roman"/>
                <a:cs typeface="Times New Roman"/>
              </a:rPr>
              <a:t>Introduction</a:t>
            </a:r>
            <a:endParaRPr sz="1800" dirty="0">
              <a:latin typeface="Times New Roman"/>
              <a:cs typeface="Times New Roman"/>
            </a:endParaRPr>
          </a:p>
          <a:p>
            <a:pPr marL="374015" indent="-361315">
              <a:lnSpc>
                <a:spcPct val="100000"/>
              </a:lnSpc>
              <a:spcBef>
                <a:spcPts val="1515"/>
              </a:spcBef>
              <a:buAutoNum type="arabicParenR"/>
              <a:tabLst>
                <a:tab pos="374015" algn="l"/>
              </a:tabLst>
            </a:pPr>
            <a:r>
              <a:rPr sz="1800" dirty="0">
                <a:latin typeface="Times New Roman"/>
                <a:cs typeface="Times New Roman"/>
              </a:rPr>
              <a:t>Problem</a:t>
            </a:r>
            <a:r>
              <a:rPr sz="1800" spc="-60" dirty="0">
                <a:latin typeface="Times New Roman"/>
                <a:cs typeface="Times New Roman"/>
              </a:rPr>
              <a:t> </a:t>
            </a:r>
            <a:r>
              <a:rPr sz="1800" spc="-10" dirty="0">
                <a:latin typeface="Times New Roman"/>
                <a:cs typeface="Times New Roman"/>
              </a:rPr>
              <a:t>Statement</a:t>
            </a:r>
            <a:endParaRPr sz="1800" dirty="0">
              <a:latin typeface="Times New Roman"/>
              <a:cs typeface="Times New Roman"/>
            </a:endParaRPr>
          </a:p>
          <a:p>
            <a:pPr marL="374015" indent="-361315">
              <a:lnSpc>
                <a:spcPct val="100000"/>
              </a:lnSpc>
              <a:spcBef>
                <a:spcPts val="1510"/>
              </a:spcBef>
              <a:buAutoNum type="arabicParenR"/>
              <a:tabLst>
                <a:tab pos="374015" algn="l"/>
              </a:tabLst>
            </a:pPr>
            <a:r>
              <a:rPr sz="1800" spc="-10" dirty="0">
                <a:latin typeface="Times New Roman"/>
                <a:cs typeface="Times New Roman"/>
              </a:rPr>
              <a:t>Objective</a:t>
            </a:r>
            <a:endParaRPr sz="1800" dirty="0">
              <a:latin typeface="Times New Roman"/>
              <a:cs typeface="Times New Roman"/>
            </a:endParaRPr>
          </a:p>
          <a:p>
            <a:pPr marL="374015" indent="-361315">
              <a:lnSpc>
                <a:spcPct val="100000"/>
              </a:lnSpc>
              <a:spcBef>
                <a:spcPts val="1515"/>
              </a:spcBef>
              <a:buAutoNum type="arabicParenR"/>
              <a:tabLst>
                <a:tab pos="374015" algn="l"/>
              </a:tabLst>
            </a:pPr>
            <a:r>
              <a:rPr sz="1800" spc="-10" dirty="0">
                <a:latin typeface="Times New Roman"/>
                <a:cs typeface="Times New Roman"/>
              </a:rPr>
              <a:t>Significance</a:t>
            </a:r>
            <a:endParaRPr sz="1800" dirty="0">
              <a:latin typeface="Times New Roman"/>
              <a:cs typeface="Times New Roman"/>
            </a:endParaRPr>
          </a:p>
          <a:p>
            <a:pPr marL="374015" indent="-361315">
              <a:lnSpc>
                <a:spcPct val="100000"/>
              </a:lnSpc>
              <a:spcBef>
                <a:spcPts val="1515"/>
              </a:spcBef>
              <a:buAutoNum type="arabicParenR"/>
              <a:tabLst>
                <a:tab pos="374015" algn="l"/>
              </a:tabLst>
            </a:pPr>
            <a:r>
              <a:rPr sz="1800" dirty="0">
                <a:latin typeface="Times New Roman"/>
                <a:cs typeface="Times New Roman"/>
              </a:rPr>
              <a:t>Scope</a:t>
            </a:r>
            <a:r>
              <a:rPr sz="1800" spc="-40" dirty="0">
                <a:latin typeface="Times New Roman"/>
                <a:cs typeface="Times New Roman"/>
              </a:rPr>
              <a:t> </a:t>
            </a:r>
            <a:endParaRPr sz="1800" dirty="0">
              <a:latin typeface="Times New Roman"/>
              <a:cs typeface="Times New Roman"/>
            </a:endParaRPr>
          </a:p>
          <a:p>
            <a:pPr marL="431165" indent="-418465">
              <a:lnSpc>
                <a:spcPct val="100000"/>
              </a:lnSpc>
              <a:spcBef>
                <a:spcPts val="1510"/>
              </a:spcBef>
              <a:buAutoNum type="arabicParenR"/>
              <a:tabLst>
                <a:tab pos="431165" algn="l"/>
              </a:tabLst>
            </a:pPr>
            <a:r>
              <a:rPr sz="1800" dirty="0">
                <a:latin typeface="Times New Roman"/>
                <a:cs typeface="Times New Roman"/>
              </a:rPr>
              <a:t>Use</a:t>
            </a:r>
            <a:r>
              <a:rPr sz="1800" spc="-15" dirty="0">
                <a:latin typeface="Times New Roman"/>
                <a:cs typeface="Times New Roman"/>
              </a:rPr>
              <a:t> </a:t>
            </a:r>
            <a:r>
              <a:rPr sz="1800" spc="-10" dirty="0">
                <a:latin typeface="Times New Roman"/>
                <a:cs typeface="Times New Roman"/>
              </a:rPr>
              <a:t>Cases</a:t>
            </a:r>
            <a:endParaRPr sz="1800" dirty="0">
              <a:latin typeface="Times New Roman"/>
              <a:cs typeface="Times New Roman"/>
            </a:endParaRPr>
          </a:p>
          <a:p>
            <a:pPr marL="469265" indent="-456565">
              <a:lnSpc>
                <a:spcPct val="100000"/>
              </a:lnSpc>
              <a:spcBef>
                <a:spcPts val="1510"/>
              </a:spcBef>
              <a:buAutoNum type="arabicParenR"/>
              <a:tabLst>
                <a:tab pos="469265" algn="l"/>
              </a:tabLst>
            </a:pPr>
            <a:r>
              <a:rPr sz="1800" spc="-10" dirty="0">
                <a:latin typeface="Times New Roman"/>
                <a:cs typeface="Times New Roman"/>
              </a:rPr>
              <a:t>Methodology</a:t>
            </a:r>
            <a:endParaRPr sz="1800" dirty="0">
              <a:latin typeface="Times New Roman"/>
              <a:cs typeface="Times New Roman"/>
            </a:endParaRPr>
          </a:p>
          <a:p>
            <a:pPr marL="469265" indent="-456565">
              <a:lnSpc>
                <a:spcPct val="100000"/>
              </a:lnSpc>
              <a:spcBef>
                <a:spcPts val="1515"/>
              </a:spcBef>
              <a:buAutoNum type="arabicParenR"/>
              <a:tabLst>
                <a:tab pos="469265" algn="l"/>
              </a:tabLst>
            </a:pPr>
            <a:r>
              <a:rPr sz="1800" spc="-10" dirty="0">
                <a:latin typeface="Times New Roman"/>
                <a:cs typeface="Times New Roman"/>
              </a:rPr>
              <a:t>Technology</a:t>
            </a:r>
            <a:r>
              <a:rPr sz="1800" spc="-60" dirty="0">
                <a:latin typeface="Times New Roman"/>
                <a:cs typeface="Times New Roman"/>
              </a:rPr>
              <a:t> </a:t>
            </a:r>
            <a:r>
              <a:rPr sz="1800" spc="-10" dirty="0">
                <a:latin typeface="Times New Roman"/>
                <a:cs typeface="Times New Roman"/>
              </a:rPr>
              <a:t>Stack</a:t>
            </a:r>
            <a:endParaRPr sz="1800" dirty="0">
              <a:latin typeface="Times New Roman"/>
              <a:cs typeface="Times New Roman"/>
            </a:endParaRPr>
          </a:p>
          <a:p>
            <a:pPr marL="469265" indent="-456565">
              <a:lnSpc>
                <a:spcPct val="100000"/>
              </a:lnSpc>
              <a:spcBef>
                <a:spcPts val="1515"/>
              </a:spcBef>
              <a:buAutoNum type="arabicParenR"/>
              <a:tabLst>
                <a:tab pos="469265" algn="l"/>
              </a:tabLst>
            </a:pPr>
            <a:r>
              <a:rPr sz="1800" dirty="0">
                <a:latin typeface="Times New Roman"/>
                <a:cs typeface="Times New Roman"/>
              </a:rPr>
              <a:t>Future</a:t>
            </a:r>
            <a:r>
              <a:rPr sz="1800" spc="-55" dirty="0">
                <a:latin typeface="Times New Roman"/>
                <a:cs typeface="Times New Roman"/>
              </a:rPr>
              <a:t> </a:t>
            </a:r>
            <a:r>
              <a:rPr sz="1800" spc="-10" dirty="0">
                <a:latin typeface="Times New Roman"/>
                <a:cs typeface="Times New Roman"/>
              </a:rPr>
              <a:t>Scope</a:t>
            </a:r>
            <a:endParaRPr sz="1800" dirty="0">
              <a:latin typeface="Times New Roman"/>
              <a:cs typeface="Times New Roman"/>
            </a:endParaRPr>
          </a:p>
          <a:p>
            <a:pPr marL="469265" indent="-456565">
              <a:lnSpc>
                <a:spcPct val="100000"/>
              </a:lnSpc>
              <a:spcBef>
                <a:spcPts val="1510"/>
              </a:spcBef>
              <a:buAutoNum type="arabicParenR"/>
              <a:tabLst>
                <a:tab pos="469265" algn="l"/>
              </a:tabLst>
            </a:pPr>
            <a:r>
              <a:rPr sz="1800" spc="-10" dirty="0">
                <a:latin typeface="Times New Roman"/>
                <a:cs typeface="Times New Roman"/>
              </a:rPr>
              <a:t>Conclusion</a:t>
            </a:r>
            <a:endParaRPr sz="1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7092" y="108331"/>
            <a:ext cx="3413760" cy="561563"/>
          </a:xfrm>
          <a:prstGeom prst="rect">
            <a:avLst/>
          </a:prstGeom>
        </p:spPr>
        <p:txBody>
          <a:bodyPr vert="horz" wrap="square" lIns="0" tIns="68452" rIns="0" bIns="0" rtlCol="0">
            <a:spAutoFit/>
          </a:bodyPr>
          <a:lstStyle/>
          <a:p>
            <a:pPr marL="795020">
              <a:lnSpc>
                <a:spcPct val="100000"/>
              </a:lnSpc>
              <a:spcBef>
                <a:spcPts val="100"/>
              </a:spcBef>
            </a:pPr>
            <a:r>
              <a:rPr spc="-10"/>
              <a:t>Abstract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4300">
              <a:lnSpc>
                <a:spcPts val="1410"/>
              </a:lnSpc>
            </a:pPr>
            <a:fld id="{81D60167-4931-47E6-BA6A-407CBD079E47}" type="slidenum">
              <a:rPr spc="-50" dirty="0"/>
              <a:t>3</a:t>
            </a:fld>
            <a:endParaRPr spc="-50"/>
          </a:p>
        </p:txBody>
      </p:sp>
      <p:sp>
        <p:nvSpPr>
          <p:cNvPr id="3" name="object 3"/>
          <p:cNvSpPr txBox="1"/>
          <p:nvPr/>
        </p:nvSpPr>
        <p:spPr>
          <a:xfrm>
            <a:off x="540512" y="1659763"/>
            <a:ext cx="8050530" cy="321242"/>
          </a:xfrm>
          <a:prstGeom prst="rect">
            <a:avLst/>
          </a:prstGeom>
        </p:spPr>
        <p:txBody>
          <a:bodyPr vert="horz" wrap="square" lIns="0" tIns="13335" rIns="0" bIns="0" rtlCol="0">
            <a:spAutoFit/>
          </a:bodyPr>
          <a:lstStyle/>
          <a:p>
            <a:pPr marL="12700" marR="5080">
              <a:lnSpc>
                <a:spcPct val="100000"/>
              </a:lnSpc>
              <a:spcBef>
                <a:spcPts val="105"/>
              </a:spcBef>
            </a:pPr>
            <a:endParaRPr sz="2000">
              <a:latin typeface="Arial"/>
              <a:cs typeface="Arial"/>
            </a:endParaRPr>
          </a:p>
        </p:txBody>
      </p:sp>
      <p:sp>
        <p:nvSpPr>
          <p:cNvPr id="5" name="TextBox 4">
            <a:extLst>
              <a:ext uri="{FF2B5EF4-FFF2-40B4-BE49-F238E27FC236}">
                <a16:creationId xmlns:a16="http://schemas.microsoft.com/office/drawing/2014/main" id="{7ACAEB95-8E78-F436-D160-B90C583154CC}"/>
              </a:ext>
            </a:extLst>
          </p:cNvPr>
          <p:cNvSpPr txBox="1"/>
          <p:nvPr/>
        </p:nvSpPr>
        <p:spPr>
          <a:xfrm>
            <a:off x="540512" y="1295400"/>
            <a:ext cx="8106028" cy="3477875"/>
          </a:xfrm>
          <a:prstGeom prst="rect">
            <a:avLst/>
          </a:prstGeom>
          <a:noFill/>
        </p:spPr>
        <p:txBody>
          <a:bodyPr wrap="square" lIns="91440" tIns="45720" rIns="91440" bIns="45720" rtlCol="0" anchor="t">
            <a:spAutoFit/>
          </a:bodyPr>
          <a:lstStyle/>
          <a:p>
            <a:pPr algn="just"/>
            <a:r>
              <a:rPr lang="en-US" sz="2000" dirty="0" err="1">
                <a:latin typeface="Times New Roman"/>
                <a:cs typeface="Times New Roman"/>
              </a:rPr>
              <a:t>DoctorDirect</a:t>
            </a:r>
            <a:r>
              <a:rPr lang="en-US" sz="2000" dirty="0">
                <a:latin typeface="Times New Roman"/>
                <a:cs typeface="Times New Roman"/>
              </a:rPr>
              <a:t> is an intelligent web-based application designed to simplify and digitize the process of booking medical appointments. Patients can effortlessly schedule appointments with their preferred doctors, while doctors can view, approve, or deny these requests through a dedicated portal. Once an appointment is approved, a secure QR code is generated, which patients use to access their medical reports—ensuring both privacy and convenience. The system supports real-time status updates, appointment history tracking, and report management. By automating traditional workflows, </a:t>
            </a:r>
            <a:r>
              <a:rPr lang="en-US" sz="2000" dirty="0" err="1">
                <a:latin typeface="Times New Roman"/>
                <a:cs typeface="Times New Roman"/>
              </a:rPr>
              <a:t>DoctorDirect</a:t>
            </a:r>
            <a:r>
              <a:rPr lang="en-US" sz="2000" dirty="0">
                <a:latin typeface="Times New Roman"/>
                <a:cs typeface="Times New Roman"/>
              </a:rPr>
              <a:t> reduces waiting times, eliminates paperwork, and improves the overall efficiency of healthcare delivery for clinics and hospitals.</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4963" rIns="0" bIns="0" rtlCol="0">
            <a:spAutoFit/>
          </a:bodyPr>
          <a:lstStyle/>
          <a:p>
            <a:pPr marL="573405">
              <a:lnSpc>
                <a:spcPct val="100000"/>
              </a:lnSpc>
              <a:spcBef>
                <a:spcPts val="100"/>
              </a:spcBef>
            </a:pPr>
            <a:r>
              <a:rPr spc="-10"/>
              <a:t>Introduction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14300">
              <a:lnSpc>
                <a:spcPts val="1410"/>
              </a:lnSpc>
            </a:pPr>
            <a:fld id="{81D60167-4931-47E6-BA6A-407CBD079E47}" type="slidenum">
              <a:rPr spc="-50" dirty="0"/>
              <a:t>4</a:t>
            </a:fld>
            <a:endParaRPr spc="-50"/>
          </a:p>
        </p:txBody>
      </p:sp>
      <p:sp>
        <p:nvSpPr>
          <p:cNvPr id="3" name="object 3"/>
          <p:cNvSpPr txBox="1"/>
          <p:nvPr/>
        </p:nvSpPr>
        <p:spPr>
          <a:xfrm>
            <a:off x="501802" y="1190371"/>
            <a:ext cx="8016240" cy="4064574"/>
          </a:xfrm>
          <a:prstGeom prst="rect">
            <a:avLst/>
          </a:prstGeom>
        </p:spPr>
        <p:txBody>
          <a:bodyPr vert="horz" wrap="square" lIns="0" tIns="12065" rIns="0" bIns="0" rtlCol="0">
            <a:spAutoFit/>
          </a:bodyPr>
          <a:lstStyle/>
          <a:p>
            <a:pPr marL="355600" marR="5080" indent="-342900">
              <a:lnSpc>
                <a:spcPct val="100000"/>
              </a:lnSpc>
              <a:spcBef>
                <a:spcPts val="95"/>
              </a:spcBef>
              <a:buFont typeface="Arial"/>
              <a:buChar char="•"/>
              <a:tabLst>
                <a:tab pos="355600" algn="l"/>
              </a:tabLst>
            </a:pPr>
            <a:r>
              <a:rPr lang="en-US" sz="2000" dirty="0" err="1">
                <a:latin typeface="Times New Roman"/>
                <a:cs typeface="Times New Roman"/>
              </a:rPr>
              <a:t>DoctorDirect</a:t>
            </a:r>
            <a:r>
              <a:rPr lang="en-US" sz="2000" dirty="0">
                <a:latin typeface="Times New Roman"/>
                <a:cs typeface="Times New Roman"/>
              </a:rPr>
              <a:t> is a web-based healthcare application designed to simplify the appointment booking process. Patients can search for doctors, book appointments, and get real-time approval or rejection based on the doctor’s availability.</a:t>
            </a:r>
          </a:p>
          <a:p>
            <a:pPr marL="355600" marR="5080" indent="-342900">
              <a:lnSpc>
                <a:spcPct val="100000"/>
              </a:lnSpc>
              <a:spcBef>
                <a:spcPts val="95"/>
              </a:spcBef>
              <a:buFont typeface="Arial"/>
              <a:buChar char="•"/>
              <a:tabLst>
                <a:tab pos="355600" algn="l"/>
              </a:tabLst>
            </a:pPr>
            <a:endParaRPr lang="en-US" sz="2000" dirty="0">
              <a:latin typeface="Times New Roman"/>
              <a:cs typeface="Times New Roman"/>
            </a:endParaRPr>
          </a:p>
          <a:p>
            <a:pPr marL="355600" marR="5080" indent="-342900">
              <a:lnSpc>
                <a:spcPct val="100000"/>
              </a:lnSpc>
              <a:spcBef>
                <a:spcPts val="95"/>
              </a:spcBef>
              <a:buFont typeface="Arial"/>
              <a:buChar char="•"/>
              <a:tabLst>
                <a:tab pos="355600" algn="l"/>
              </a:tabLst>
            </a:pPr>
            <a:r>
              <a:rPr lang="en-US" sz="2000" dirty="0">
                <a:latin typeface="Times New Roman"/>
                <a:cs typeface="Times New Roman"/>
              </a:rPr>
              <a:t>Upon approval, a unique QR code is generated that patients can scan to securely access their medical reports, ensuring a fast, paperless, and contactless experience in clinics or hospitals.</a:t>
            </a:r>
          </a:p>
          <a:p>
            <a:pPr marL="355600" marR="5080" indent="-342900">
              <a:lnSpc>
                <a:spcPct val="100000"/>
              </a:lnSpc>
              <a:spcBef>
                <a:spcPts val="95"/>
              </a:spcBef>
              <a:buFont typeface="Arial"/>
              <a:buChar char="•"/>
              <a:tabLst>
                <a:tab pos="355600" algn="l"/>
              </a:tabLst>
            </a:pPr>
            <a:endParaRPr lang="en-US" sz="2000" dirty="0">
              <a:latin typeface="Times New Roman"/>
              <a:cs typeface="Times New Roman"/>
            </a:endParaRPr>
          </a:p>
          <a:p>
            <a:pPr marL="355600" marR="5080" indent="-342900">
              <a:lnSpc>
                <a:spcPct val="100000"/>
              </a:lnSpc>
              <a:spcBef>
                <a:spcPts val="95"/>
              </a:spcBef>
              <a:buFont typeface="Arial"/>
              <a:buChar char="•"/>
              <a:tabLst>
                <a:tab pos="355600" algn="l"/>
              </a:tabLst>
            </a:pPr>
            <a:r>
              <a:rPr lang="en-US" sz="2000" dirty="0">
                <a:latin typeface="Times New Roman"/>
                <a:cs typeface="Times New Roman"/>
              </a:rPr>
              <a:t>The system reduces waiting time, eliminates paperwork, and improves communication between patients and doctors. With a user-friendly interface and scalable architecture, </a:t>
            </a:r>
            <a:r>
              <a:rPr lang="en-US" sz="2000" dirty="0" err="1">
                <a:latin typeface="Times New Roman"/>
                <a:cs typeface="Times New Roman"/>
              </a:rPr>
              <a:t>DoctorDirect</a:t>
            </a:r>
            <a:r>
              <a:rPr lang="en-US" sz="2000" dirty="0">
                <a:latin typeface="Times New Roman"/>
                <a:cs typeface="Times New Roman"/>
              </a:rPr>
              <a:t> is ideal for modernizing healthcare workflows and enhancing patient engagement.</a:t>
            </a:r>
            <a:endParaRPr sz="20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43" rIns="0" bIns="0" rtlCol="0">
            <a:spAutoFit/>
          </a:bodyPr>
          <a:lstStyle/>
          <a:p>
            <a:pPr marL="102235">
              <a:lnSpc>
                <a:spcPct val="100000"/>
              </a:lnSpc>
              <a:spcBef>
                <a:spcPts val="105"/>
              </a:spcBef>
            </a:pPr>
            <a:r>
              <a:rPr dirty="0"/>
              <a:t>Problem</a:t>
            </a:r>
            <a:r>
              <a:rPr spc="-30" dirty="0"/>
              <a:t> </a:t>
            </a:r>
            <a:r>
              <a:rPr spc="-10" dirty="0"/>
              <a:t>Statement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4300">
              <a:lnSpc>
                <a:spcPts val="1410"/>
              </a:lnSpc>
            </a:pPr>
            <a:fld id="{81D60167-4931-47E6-BA6A-407CBD079E47}" type="slidenum">
              <a:rPr spc="-50" dirty="0"/>
              <a:t>5</a:t>
            </a:fld>
            <a:endParaRPr spc="-50"/>
          </a:p>
        </p:txBody>
      </p:sp>
      <p:sp>
        <p:nvSpPr>
          <p:cNvPr id="3" name="object 3"/>
          <p:cNvSpPr txBox="1"/>
          <p:nvPr/>
        </p:nvSpPr>
        <p:spPr>
          <a:xfrm>
            <a:off x="990600" y="1575608"/>
            <a:ext cx="7811134" cy="3706784"/>
          </a:xfrm>
          <a:prstGeom prst="rect">
            <a:avLst/>
          </a:prstGeom>
        </p:spPr>
        <p:txBody>
          <a:bodyPr vert="horz" wrap="square" lIns="0" tIns="13335" rIns="0" bIns="0" rtlCol="0">
            <a:spAutoFit/>
          </a:bodyPr>
          <a:lstStyle/>
          <a:p>
            <a:pPr marL="12700" marR="681355" algn="just">
              <a:lnSpc>
                <a:spcPct val="100000"/>
              </a:lnSpc>
              <a:spcBef>
                <a:spcPts val="105"/>
              </a:spcBef>
            </a:pPr>
            <a:r>
              <a:rPr lang="en-US" sz="2000">
                <a:latin typeface="Times New Roman" panose="02020603050405020304" pitchFamily="18" charset="0"/>
                <a:cs typeface="Times New Roman" panose="02020603050405020304" pitchFamily="18" charset="0"/>
              </a:rPr>
              <a:t>In traditional healthcare systems, booking doctor appointments often involves long waiting times, manual scheduling, and miscommunication between patients and doctors. Patients face difficulties in managing appointments and accessing their medical reports, while doctors struggle with unorganized appointment handling and excessive paperwork. There is a need for a digital solution that can streamline appointment management, provide real-time updates, and ensure secure and easy access to patient data. </a:t>
            </a:r>
            <a:r>
              <a:rPr lang="en-US" sz="2000" err="1">
                <a:latin typeface="Times New Roman" panose="02020603050405020304" pitchFamily="18" charset="0"/>
                <a:cs typeface="Times New Roman" panose="02020603050405020304" pitchFamily="18" charset="0"/>
              </a:rPr>
              <a:t>DoctorDirect</a:t>
            </a:r>
            <a:r>
              <a:rPr lang="en-US" sz="2000">
                <a:latin typeface="Times New Roman" panose="02020603050405020304" pitchFamily="18" charset="0"/>
                <a:cs typeface="Times New Roman" panose="02020603050405020304" pitchFamily="18" charset="0"/>
              </a:rPr>
              <a:t> aims to solve these issues by offering a user-friendly, secure, and scalable platform that enables efficient appointment booking, QR-based report access, and improved doctor-patient communication.</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3" name="object 3"/>
          <p:cNvPicPr/>
          <p:nvPr/>
        </p:nvPicPr>
        <p:blipFill>
          <a:blip r:embed="rId2" cstate="print"/>
          <a:stretch>
            <a:fillRect/>
          </a:stretch>
        </p:blipFill>
        <p:spPr>
          <a:xfrm>
            <a:off x="0" y="6701026"/>
            <a:ext cx="9144000" cy="156973"/>
          </a:xfrm>
          <a:prstGeom prst="rect">
            <a:avLst/>
          </a:prstGeom>
        </p:spPr>
      </p:pic>
      <p:grpSp>
        <p:nvGrpSpPr>
          <p:cNvPr id="4" name="object 4"/>
          <p:cNvGrpSpPr/>
          <p:nvPr/>
        </p:nvGrpSpPr>
        <p:grpSpPr>
          <a:xfrm>
            <a:off x="6146800" y="0"/>
            <a:ext cx="2997200" cy="876300"/>
            <a:chOff x="6146800" y="0"/>
            <a:chExt cx="2997200" cy="876300"/>
          </a:xfrm>
        </p:grpSpPr>
        <p:pic>
          <p:nvPicPr>
            <p:cNvPr id="5" name="object 5"/>
            <p:cNvPicPr/>
            <p:nvPr/>
          </p:nvPicPr>
          <p:blipFill>
            <a:blip r:embed="rId3" cstate="print"/>
            <a:stretch>
              <a:fillRect/>
            </a:stretch>
          </p:blipFill>
          <p:spPr>
            <a:xfrm>
              <a:off x="6553200" y="228600"/>
              <a:ext cx="2057400" cy="635000"/>
            </a:xfrm>
            <a:prstGeom prst="rect">
              <a:avLst/>
            </a:prstGeom>
          </p:spPr>
        </p:pic>
        <p:sp>
          <p:nvSpPr>
            <p:cNvPr id="6" name="object 6"/>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7" name="object 7"/>
            <p:cNvPicPr/>
            <p:nvPr/>
          </p:nvPicPr>
          <p:blipFill>
            <a:blip r:embed="rId4" cstate="print"/>
            <a:stretch>
              <a:fillRect/>
            </a:stretch>
          </p:blipFill>
          <p:spPr>
            <a:xfrm>
              <a:off x="6553200" y="228600"/>
              <a:ext cx="2057400" cy="635000"/>
            </a:xfrm>
            <a:prstGeom prst="rect">
              <a:avLst/>
            </a:prstGeom>
          </p:spPr>
        </p:pic>
        <p:sp>
          <p:nvSpPr>
            <p:cNvPr id="8" name="object 8"/>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9" name="object 9"/>
            <p:cNvPicPr/>
            <p:nvPr/>
          </p:nvPicPr>
          <p:blipFill>
            <a:blip r:embed="rId5" cstate="print"/>
            <a:stretch>
              <a:fillRect/>
            </a:stretch>
          </p:blipFill>
          <p:spPr>
            <a:xfrm>
              <a:off x="6553200" y="228600"/>
              <a:ext cx="1920875" cy="609600"/>
            </a:xfrm>
            <a:prstGeom prst="rect">
              <a:avLst/>
            </a:prstGeom>
          </p:spPr>
        </p:pic>
      </p:grpSp>
      <p:sp>
        <p:nvSpPr>
          <p:cNvPr id="10" name="object 10"/>
          <p:cNvSpPr txBox="1">
            <a:spLocks noGrp="1"/>
          </p:cNvSpPr>
          <p:nvPr>
            <p:ph type="title"/>
          </p:nvPr>
        </p:nvSpPr>
        <p:spPr>
          <a:prstGeom prst="rect">
            <a:avLst/>
          </a:prstGeom>
        </p:spPr>
        <p:txBody>
          <a:bodyPr vert="horz" wrap="square" lIns="0" tIns="91643" rIns="0" bIns="0" rtlCol="0">
            <a:spAutoFit/>
          </a:bodyPr>
          <a:lstStyle/>
          <a:p>
            <a:pPr marL="977265">
              <a:lnSpc>
                <a:spcPct val="100000"/>
              </a:lnSpc>
              <a:spcBef>
                <a:spcPts val="105"/>
              </a:spcBef>
            </a:pPr>
            <a:r>
              <a:rPr spc="-10"/>
              <a:t>Objective</a:t>
            </a:r>
          </a:p>
        </p:txBody>
      </p:sp>
      <p:sp>
        <p:nvSpPr>
          <p:cNvPr id="11" name="object 11"/>
          <p:cNvSpPr txBox="1"/>
          <p:nvPr/>
        </p:nvSpPr>
        <p:spPr>
          <a:xfrm>
            <a:off x="612140" y="996772"/>
            <a:ext cx="7706359" cy="5347618"/>
          </a:xfrm>
          <a:prstGeom prst="rect">
            <a:avLst/>
          </a:prstGeom>
        </p:spPr>
        <p:txBody>
          <a:bodyPr vert="horz" wrap="square" lIns="0" tIns="12700" rIns="0" bIns="0" rtlCol="0">
            <a:spAutoFit/>
          </a:bodyPr>
          <a:lstStyle/>
          <a:p>
            <a:pPr marL="12700" marR="5080" algn="just">
              <a:lnSpc>
                <a:spcPct val="100200"/>
              </a:lnSpc>
              <a:spcBef>
                <a:spcPts val="100"/>
              </a:spcBef>
            </a:pPr>
            <a:r>
              <a:rPr lang="en-US" sz="2000">
                <a:latin typeface="Times New Roman" panose="02020603050405020304" pitchFamily="18" charset="0"/>
                <a:cs typeface="Times New Roman" panose="02020603050405020304" pitchFamily="18" charset="0"/>
              </a:rPr>
              <a:t>The primary objective of this project is to develop a smart, scalable doctor appointment booking system that enhances patient-doctor interaction through real-time scheduling and secure digital access. The platform is designed to improve efficiency, reduce paperwork, and provide a contactless healthcare experience for both patients and doctors.</a:t>
            </a:r>
          </a:p>
          <a:p>
            <a:pPr marL="12700" marR="5080" algn="just">
              <a:lnSpc>
                <a:spcPct val="100200"/>
              </a:lnSpc>
              <a:spcBef>
                <a:spcPts val="100"/>
              </a:spcBef>
            </a:pPr>
            <a:endParaRPr lang="en-US" sz="2000">
              <a:latin typeface="Times New Roman" panose="02020603050405020304" pitchFamily="18" charset="0"/>
              <a:cs typeface="Times New Roman" panose="02020603050405020304" pitchFamily="18" charset="0"/>
            </a:endParaRPr>
          </a:p>
          <a:p>
            <a:pPr marL="12700" marR="5080" algn="just">
              <a:lnSpc>
                <a:spcPct val="100200"/>
              </a:lnSpc>
              <a:spcBef>
                <a:spcPts val="100"/>
              </a:spcBef>
            </a:pPr>
            <a:r>
              <a:rPr lang="en-US" sz="2000">
                <a:latin typeface="Times New Roman" panose="02020603050405020304" pitchFamily="18" charset="0"/>
                <a:cs typeface="Times New Roman" panose="02020603050405020304" pitchFamily="18" charset="0"/>
              </a:rPr>
              <a:t>Key Objectives:</a:t>
            </a:r>
          </a:p>
          <a:p>
            <a:pPr marL="12700" marR="5080" algn="just">
              <a:lnSpc>
                <a:spcPct val="100200"/>
              </a:lnSpc>
              <a:spcBef>
                <a:spcPts val="100"/>
              </a:spcBef>
            </a:pPr>
            <a:endParaRPr lang="en-US" sz="2000">
              <a:latin typeface="Times New Roman" panose="02020603050405020304" pitchFamily="18" charset="0"/>
              <a:cs typeface="Times New Roman" panose="02020603050405020304" pitchFamily="18" charset="0"/>
            </a:endParaRPr>
          </a:p>
          <a:p>
            <a:pPr marL="355600" marR="5080" indent="-342900" algn="just">
              <a:lnSpc>
                <a:spcPct val="100200"/>
              </a:lnSpc>
              <a:spcBef>
                <a:spcPts val="100"/>
              </a:spcBef>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To allow patients to easily book and manage appointments with doctors.</a:t>
            </a:r>
          </a:p>
          <a:p>
            <a:pPr marL="355600" marR="5080" indent="-342900" algn="just">
              <a:lnSpc>
                <a:spcPct val="100200"/>
              </a:lnSpc>
              <a:spcBef>
                <a:spcPts val="100"/>
              </a:spcBef>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To enable doctors to approve or reject appointment requests in real time.</a:t>
            </a:r>
          </a:p>
          <a:p>
            <a:pPr marL="355600" marR="5080" indent="-342900" algn="just">
              <a:lnSpc>
                <a:spcPct val="100200"/>
              </a:lnSpc>
              <a:spcBef>
                <a:spcPts val="100"/>
              </a:spcBef>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To generate a secure QR code for accessing patient reports digitally.</a:t>
            </a:r>
          </a:p>
          <a:p>
            <a:pPr marL="355600" marR="5080" indent="-342900" algn="just">
              <a:lnSpc>
                <a:spcPct val="100200"/>
              </a:lnSpc>
              <a:spcBef>
                <a:spcPts val="100"/>
              </a:spcBef>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To implement secure user authentication and role-based access using JWT.</a:t>
            </a:r>
          </a:p>
          <a:p>
            <a:pPr marL="355600" marR="5080" indent="-342900" algn="just">
              <a:lnSpc>
                <a:spcPct val="100200"/>
              </a:lnSpc>
              <a:spcBef>
                <a:spcPts val="100"/>
              </a:spcBef>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To offer a responsive and user-friendly interface for improved accessibility.</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E530C-2618-1B9C-0E77-10B17747EE5E}"/>
              </a:ext>
            </a:extLst>
          </p:cNvPr>
          <p:cNvSpPr>
            <a:spLocks noGrp="1"/>
          </p:cNvSpPr>
          <p:nvPr>
            <p:ph type="title"/>
          </p:nvPr>
        </p:nvSpPr>
        <p:spPr>
          <a:xfrm>
            <a:off x="1887092" y="108331"/>
            <a:ext cx="3413760" cy="492443"/>
          </a:xfrm>
        </p:spPr>
        <p:txBody>
          <a:bodyPr/>
          <a:lstStyle/>
          <a:p>
            <a:r>
              <a:rPr lang="en-US" dirty="0"/>
              <a:t>   SDLC</a:t>
            </a:r>
            <a:endParaRPr lang="en-IN" dirty="0"/>
          </a:p>
        </p:txBody>
      </p:sp>
      <p:pic>
        <p:nvPicPr>
          <p:cNvPr id="4" name="Picture 2" descr="SDLC - Software Development Life Cycle - javatpoint">
            <a:extLst>
              <a:ext uri="{FF2B5EF4-FFF2-40B4-BE49-F238E27FC236}">
                <a16:creationId xmlns:a16="http://schemas.microsoft.com/office/drawing/2014/main" id="{1C8C762A-E7C3-8B7D-812C-8600E6220B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243" y="1142017"/>
            <a:ext cx="6128797" cy="5073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386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pic>
        <p:nvPicPr>
          <p:cNvPr id="3" name="object 3"/>
          <p:cNvPicPr/>
          <p:nvPr/>
        </p:nvPicPr>
        <p:blipFill>
          <a:blip r:embed="rId2" cstate="print"/>
          <a:stretch>
            <a:fillRect/>
          </a:stretch>
        </p:blipFill>
        <p:spPr>
          <a:xfrm>
            <a:off x="0" y="6701026"/>
            <a:ext cx="9144000" cy="156973"/>
          </a:xfrm>
          <a:prstGeom prst="rect">
            <a:avLst/>
          </a:prstGeom>
        </p:spPr>
      </p:pic>
      <p:grpSp>
        <p:nvGrpSpPr>
          <p:cNvPr id="4" name="object 4"/>
          <p:cNvGrpSpPr/>
          <p:nvPr/>
        </p:nvGrpSpPr>
        <p:grpSpPr>
          <a:xfrm>
            <a:off x="6146800" y="0"/>
            <a:ext cx="2997200" cy="876300"/>
            <a:chOff x="6146800" y="0"/>
            <a:chExt cx="2997200" cy="876300"/>
          </a:xfrm>
        </p:grpSpPr>
        <p:pic>
          <p:nvPicPr>
            <p:cNvPr id="5" name="object 5"/>
            <p:cNvPicPr/>
            <p:nvPr/>
          </p:nvPicPr>
          <p:blipFill>
            <a:blip r:embed="rId3" cstate="print"/>
            <a:stretch>
              <a:fillRect/>
            </a:stretch>
          </p:blipFill>
          <p:spPr>
            <a:xfrm>
              <a:off x="6553200" y="228600"/>
              <a:ext cx="2057400" cy="635000"/>
            </a:xfrm>
            <a:prstGeom prst="rect">
              <a:avLst/>
            </a:prstGeom>
          </p:spPr>
        </p:pic>
        <p:sp>
          <p:nvSpPr>
            <p:cNvPr id="6" name="object 6"/>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7" name="object 7"/>
            <p:cNvPicPr/>
            <p:nvPr/>
          </p:nvPicPr>
          <p:blipFill>
            <a:blip r:embed="rId4" cstate="print"/>
            <a:stretch>
              <a:fillRect/>
            </a:stretch>
          </p:blipFill>
          <p:spPr>
            <a:xfrm>
              <a:off x="6553200" y="228600"/>
              <a:ext cx="2057400" cy="635000"/>
            </a:xfrm>
            <a:prstGeom prst="rect">
              <a:avLst/>
            </a:prstGeom>
          </p:spPr>
        </p:pic>
        <p:sp>
          <p:nvSpPr>
            <p:cNvPr id="8" name="object 8"/>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9" name="object 9"/>
            <p:cNvPicPr/>
            <p:nvPr/>
          </p:nvPicPr>
          <p:blipFill>
            <a:blip r:embed="rId5" cstate="print"/>
            <a:stretch>
              <a:fillRect/>
            </a:stretch>
          </p:blipFill>
          <p:spPr>
            <a:xfrm>
              <a:off x="6553200" y="228600"/>
              <a:ext cx="1920875" cy="609600"/>
            </a:xfrm>
            <a:prstGeom prst="rect">
              <a:avLst/>
            </a:prstGeom>
          </p:spPr>
        </p:pic>
      </p:grpSp>
      <p:sp>
        <p:nvSpPr>
          <p:cNvPr id="10" name="object 10"/>
          <p:cNvSpPr txBox="1">
            <a:spLocks noGrp="1"/>
          </p:cNvSpPr>
          <p:nvPr>
            <p:ph type="title"/>
          </p:nvPr>
        </p:nvSpPr>
        <p:spPr>
          <a:prstGeom prst="rect">
            <a:avLst/>
          </a:prstGeom>
        </p:spPr>
        <p:txBody>
          <a:bodyPr vert="horz" wrap="square" lIns="0" tIns="91643" rIns="0" bIns="0" rtlCol="0">
            <a:spAutoFit/>
          </a:bodyPr>
          <a:lstStyle/>
          <a:p>
            <a:pPr marL="598805">
              <a:lnSpc>
                <a:spcPct val="100000"/>
              </a:lnSpc>
              <a:spcBef>
                <a:spcPts val="105"/>
              </a:spcBef>
            </a:pPr>
            <a:r>
              <a:rPr spc="-10"/>
              <a:t>Significance</a:t>
            </a:r>
          </a:p>
        </p:txBody>
      </p:sp>
      <p:sp>
        <p:nvSpPr>
          <p:cNvPr id="11" name="object 11"/>
          <p:cNvSpPr txBox="1"/>
          <p:nvPr/>
        </p:nvSpPr>
        <p:spPr>
          <a:xfrm>
            <a:off x="690473" y="1357376"/>
            <a:ext cx="7985759" cy="4053033"/>
          </a:xfrm>
          <a:prstGeom prst="rect">
            <a:avLst/>
          </a:prstGeom>
        </p:spPr>
        <p:txBody>
          <a:bodyPr vert="horz" wrap="square" lIns="0" tIns="13335" rIns="0" bIns="0" rtlCol="0">
            <a:spAutoFit/>
          </a:bodyPr>
          <a:lstStyle/>
          <a:p>
            <a:pPr marL="12700" marR="5080" algn="just">
              <a:lnSpc>
                <a:spcPct val="100000"/>
              </a:lnSpc>
              <a:spcBef>
                <a:spcPts val="105"/>
              </a:spcBef>
            </a:pPr>
            <a:r>
              <a:rPr lang="en-US" sz="2000">
                <a:latin typeface="Times New Roman" panose="02020603050405020304" pitchFamily="18" charset="0"/>
                <a:cs typeface="Times New Roman" panose="02020603050405020304" pitchFamily="18" charset="0"/>
              </a:rPr>
              <a:t>In today’s fast-paced healthcare environment, traditional appointment systems are inefficient, prone to delays, and lack transparency. Patients often face difficulties in scheduling appointments, accessing reports, and receiving timely updates. Doctors, on the other hand, deal with unorganized scheduling and redundant paperwork.</a:t>
            </a:r>
          </a:p>
          <a:p>
            <a:pPr marL="12700" marR="5080" algn="just">
              <a:lnSpc>
                <a:spcPct val="100000"/>
              </a:lnSpc>
              <a:spcBef>
                <a:spcPts val="105"/>
              </a:spcBef>
            </a:pPr>
            <a:endParaRPr lang="en-US" sz="2000">
              <a:latin typeface="Times New Roman" panose="02020603050405020304" pitchFamily="18" charset="0"/>
              <a:cs typeface="Times New Roman" panose="02020603050405020304" pitchFamily="18" charset="0"/>
            </a:endParaRPr>
          </a:p>
          <a:p>
            <a:pPr marL="12700" marR="5080" algn="just">
              <a:lnSpc>
                <a:spcPct val="100000"/>
              </a:lnSpc>
              <a:spcBef>
                <a:spcPts val="105"/>
              </a:spcBef>
            </a:pPr>
            <a:r>
              <a:rPr lang="en-US" sz="2000" err="1">
                <a:latin typeface="Times New Roman" panose="02020603050405020304" pitchFamily="18" charset="0"/>
                <a:cs typeface="Times New Roman" panose="02020603050405020304" pitchFamily="18" charset="0"/>
              </a:rPr>
              <a:t>DoctorDirect</a:t>
            </a:r>
            <a:r>
              <a:rPr lang="en-US" sz="2000">
                <a:latin typeface="Times New Roman" panose="02020603050405020304" pitchFamily="18" charset="0"/>
                <a:cs typeface="Times New Roman" panose="02020603050405020304" pitchFamily="18" charset="0"/>
              </a:rPr>
              <a:t> solves these challenges by offering a digital platform tailored for healthcare workflows. It enables real-time appointment booking, QR-based report access, and organized communication—making the process faster, safer, and more efficient. By reducing wait times, minimizing manual errors, and promoting contactless interaction, </a:t>
            </a:r>
            <a:r>
              <a:rPr lang="en-US" sz="2000" err="1">
                <a:latin typeface="Times New Roman" panose="02020603050405020304" pitchFamily="18" charset="0"/>
                <a:cs typeface="Times New Roman" panose="02020603050405020304" pitchFamily="18" charset="0"/>
              </a:rPr>
              <a:t>DoctorDirect</a:t>
            </a:r>
            <a:r>
              <a:rPr lang="en-US" sz="2000">
                <a:latin typeface="Times New Roman" panose="02020603050405020304" pitchFamily="18" charset="0"/>
                <a:cs typeface="Times New Roman" panose="02020603050405020304" pitchFamily="18" charset="0"/>
              </a:rPr>
              <a:t> enhances the overall patient-doctor experience and supports modern, tech-driven medical services.</a:t>
            </a:r>
          </a:p>
          <a:p>
            <a:pPr marL="12700" marR="5080" algn="just">
              <a:lnSpc>
                <a:spcPct val="100000"/>
              </a:lnSpc>
              <a:spcBef>
                <a:spcPts val="105"/>
              </a:spcBef>
            </a:pP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87092" y="108331"/>
            <a:ext cx="3413760" cy="546508"/>
          </a:xfrm>
          <a:prstGeom prst="rect">
            <a:avLst/>
          </a:prstGeom>
        </p:spPr>
        <p:txBody>
          <a:bodyPr vert="horz" wrap="square" lIns="0" tIns="53543" rIns="0" bIns="0" rtlCol="0">
            <a:spAutoFit/>
          </a:bodyPr>
          <a:lstStyle/>
          <a:p>
            <a:pPr marL="12700" algn="ctr">
              <a:lnSpc>
                <a:spcPct val="100000"/>
              </a:lnSpc>
              <a:spcBef>
                <a:spcPts val="105"/>
              </a:spcBef>
            </a:pPr>
            <a:r>
              <a:rPr dirty="0"/>
              <a:t>Scope</a:t>
            </a:r>
            <a:endParaRPr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14300">
              <a:lnSpc>
                <a:spcPts val="1410"/>
              </a:lnSpc>
            </a:pPr>
            <a:fld id="{81D60167-4931-47E6-BA6A-407CBD079E47}" type="slidenum">
              <a:rPr spc="-50" dirty="0"/>
              <a:t>9</a:t>
            </a:fld>
            <a:endParaRPr spc="-50"/>
          </a:p>
        </p:txBody>
      </p:sp>
      <p:sp>
        <p:nvSpPr>
          <p:cNvPr id="3" name="object 3"/>
          <p:cNvSpPr txBox="1"/>
          <p:nvPr/>
        </p:nvSpPr>
        <p:spPr>
          <a:xfrm>
            <a:off x="545876" y="1186658"/>
            <a:ext cx="7950200" cy="5004575"/>
          </a:xfrm>
          <a:prstGeom prst="rect">
            <a:avLst/>
          </a:prstGeom>
        </p:spPr>
        <p:txBody>
          <a:bodyPr vert="horz" wrap="square" lIns="0" tIns="79375" rIns="0" bIns="0" rtlCol="0">
            <a:spAutoFit/>
          </a:bodyPr>
          <a:lstStyle/>
          <a:p>
            <a:pPr marL="12700">
              <a:lnSpc>
                <a:spcPct val="100000"/>
              </a:lnSpc>
              <a:spcBef>
                <a:spcPts val="625"/>
              </a:spcBef>
              <a:tabLst>
                <a:tab pos="354965" algn="l"/>
              </a:tabLst>
            </a:pPr>
            <a:r>
              <a:rPr lang="en-US" sz="2000" b="1" spc="-10" dirty="0">
                <a:latin typeface="Times New Roman"/>
                <a:cs typeface="Times New Roman"/>
              </a:rPr>
              <a:t>Scope</a:t>
            </a:r>
          </a:p>
          <a:p>
            <a:pPr marL="354965" indent="-342265" algn="just">
              <a:lnSpc>
                <a:spcPct val="100000"/>
              </a:lnSpc>
              <a:spcBef>
                <a:spcPts val="625"/>
              </a:spcBef>
              <a:buFont typeface="Arial"/>
              <a:buChar char="•"/>
              <a:tabLst>
                <a:tab pos="354965" algn="l"/>
              </a:tabLst>
            </a:pPr>
            <a:r>
              <a:rPr lang="en-US" sz="2000" spc="-10" dirty="0">
                <a:latin typeface="Times New Roman"/>
                <a:cs typeface="Times New Roman"/>
              </a:rPr>
              <a:t>Users can securely register, log in, and manage their roles as patients or doctors using JWT authentication. </a:t>
            </a:r>
          </a:p>
          <a:p>
            <a:pPr marL="12700" algn="just">
              <a:lnSpc>
                <a:spcPct val="100000"/>
              </a:lnSpc>
              <a:spcBef>
                <a:spcPts val="625"/>
              </a:spcBef>
              <a:tabLst>
                <a:tab pos="354965" algn="l"/>
              </a:tabLst>
            </a:pPr>
            <a:endParaRPr lang="en-US" sz="2000" spc="-10" dirty="0">
              <a:latin typeface="Times New Roman"/>
              <a:cs typeface="Times New Roman"/>
            </a:endParaRPr>
          </a:p>
          <a:p>
            <a:pPr marL="354965" indent="-342265" algn="just">
              <a:lnSpc>
                <a:spcPct val="100000"/>
              </a:lnSpc>
              <a:spcBef>
                <a:spcPts val="625"/>
              </a:spcBef>
              <a:buFont typeface="Arial"/>
              <a:buChar char="•"/>
              <a:tabLst>
                <a:tab pos="354965" algn="l"/>
              </a:tabLst>
            </a:pPr>
            <a:r>
              <a:rPr lang="en-US" sz="2000" spc="-10" dirty="0">
                <a:latin typeface="Times New Roman"/>
                <a:cs typeface="Times New Roman"/>
              </a:rPr>
              <a:t>Patients can book appointments and access reports through QR codes, while doctors can approve or reject requests in real time.</a:t>
            </a:r>
          </a:p>
          <a:p>
            <a:pPr marL="12700" algn="just">
              <a:lnSpc>
                <a:spcPct val="100000"/>
              </a:lnSpc>
              <a:spcBef>
                <a:spcPts val="625"/>
              </a:spcBef>
              <a:tabLst>
                <a:tab pos="354965" algn="l"/>
              </a:tabLst>
            </a:pPr>
            <a:endParaRPr lang="en-US" sz="2000" spc="-10" dirty="0">
              <a:latin typeface="Times New Roman"/>
              <a:cs typeface="Times New Roman"/>
            </a:endParaRPr>
          </a:p>
          <a:p>
            <a:pPr marL="354965" indent="-342265" algn="just">
              <a:lnSpc>
                <a:spcPct val="100000"/>
              </a:lnSpc>
              <a:spcBef>
                <a:spcPts val="625"/>
              </a:spcBef>
              <a:buFont typeface="Arial"/>
              <a:buChar char="•"/>
              <a:tabLst>
                <a:tab pos="354965" algn="l"/>
              </a:tabLst>
            </a:pPr>
            <a:r>
              <a:rPr lang="en-US" sz="2000" spc="-10" dirty="0">
                <a:latin typeface="Times New Roman"/>
                <a:cs typeface="Times New Roman"/>
              </a:rPr>
              <a:t>The system ensures reliable data storage and retrieval using a MongoDB-based backend for users, appointments, and reports.</a:t>
            </a:r>
          </a:p>
          <a:p>
            <a:pPr marL="354965" indent="-342265" algn="just">
              <a:lnSpc>
                <a:spcPct val="100000"/>
              </a:lnSpc>
              <a:spcBef>
                <a:spcPts val="625"/>
              </a:spcBef>
              <a:buFont typeface="Arial"/>
              <a:buChar char="•"/>
              <a:tabLst>
                <a:tab pos="354965" algn="l"/>
              </a:tabLst>
            </a:pPr>
            <a:endParaRPr lang="en-US" sz="2000" spc="-10" dirty="0">
              <a:latin typeface="Times New Roman"/>
              <a:cs typeface="Times New Roman"/>
            </a:endParaRPr>
          </a:p>
          <a:p>
            <a:pPr marL="354965" indent="-342265" algn="just">
              <a:spcBef>
                <a:spcPts val="625"/>
              </a:spcBef>
              <a:buFont typeface="Arial"/>
              <a:buChar char="•"/>
              <a:tabLst>
                <a:tab pos="354965" algn="l"/>
              </a:tabLst>
            </a:pPr>
            <a:r>
              <a:rPr lang="en-US" sz="2000" dirty="0">
                <a:latin typeface="Times New Roman" panose="02020603050405020304" pitchFamily="18" charset="0"/>
                <a:cs typeface="Times New Roman" panose="02020603050405020304" pitchFamily="18" charset="0"/>
              </a:rPr>
              <a:t>DoctorDirect will enable online appointment booking and doctor consultation. It will improve accessibility and communication between patients and healthcare providers.</a:t>
            </a:r>
          </a:p>
          <a:p>
            <a:pPr marL="354965" indent="-342265" algn="just">
              <a:lnSpc>
                <a:spcPct val="100000"/>
              </a:lnSpc>
              <a:spcBef>
                <a:spcPts val="625"/>
              </a:spcBef>
              <a:buFont typeface="Arial"/>
              <a:buChar char="•"/>
              <a:tabLst>
                <a:tab pos="354965" algn="l"/>
              </a:tabLst>
            </a:pPr>
            <a:endParaRPr lang="en-US" sz="2000" spc="-1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0677" rIns="0" bIns="0" rtlCol="0">
            <a:spAutoFit/>
          </a:bodyPr>
          <a:lstStyle/>
          <a:p>
            <a:pPr marL="711835">
              <a:lnSpc>
                <a:spcPct val="100000"/>
              </a:lnSpc>
              <a:spcBef>
                <a:spcPts val="100"/>
              </a:spcBef>
            </a:pPr>
            <a:r>
              <a:t>Use</a:t>
            </a:r>
            <a:r>
              <a:rPr spc="-40"/>
              <a:t> </a:t>
            </a:r>
            <a:r>
              <a:rPr spc="-10"/>
              <a:t>Cases</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14300">
              <a:lnSpc>
                <a:spcPts val="1410"/>
              </a:lnSpc>
            </a:pPr>
            <a:fld id="{81D60167-4931-47E6-BA6A-407CBD079E47}" type="slidenum">
              <a:rPr spc="-50" dirty="0"/>
              <a:t>10</a:t>
            </a:fld>
            <a:endParaRPr spc="-50"/>
          </a:p>
        </p:txBody>
      </p:sp>
      <p:sp>
        <p:nvSpPr>
          <p:cNvPr id="3" name="object 3"/>
          <p:cNvSpPr txBox="1"/>
          <p:nvPr/>
        </p:nvSpPr>
        <p:spPr>
          <a:xfrm>
            <a:off x="402437" y="1081786"/>
            <a:ext cx="7762240" cy="5053306"/>
          </a:xfrm>
          <a:prstGeom prst="rect">
            <a:avLst/>
          </a:prstGeom>
        </p:spPr>
        <p:txBody>
          <a:bodyPr vert="horz" wrap="square" lIns="0" tIns="13335" rIns="0" bIns="0" rtlCol="0">
            <a:spAutoFit/>
          </a:bodyPr>
          <a:lstStyle/>
          <a:p>
            <a:pPr marL="12700" algn="just">
              <a:lnSpc>
                <a:spcPct val="100000"/>
              </a:lnSpc>
              <a:spcBef>
                <a:spcPts val="105"/>
              </a:spcBef>
              <a:tabLst>
                <a:tab pos="354965" algn="l"/>
              </a:tabLst>
            </a:pPr>
            <a:r>
              <a:rPr lang="en-US" sz="2000" b="1">
                <a:latin typeface="Times New Roman"/>
                <a:cs typeface="Times New Roman"/>
              </a:rPr>
              <a:t>User A</a:t>
            </a:r>
          </a:p>
          <a:p>
            <a:pPr marL="354965" indent="-342265" algn="just">
              <a:lnSpc>
                <a:spcPct val="100000"/>
              </a:lnSpc>
              <a:spcBef>
                <a:spcPts val="105"/>
              </a:spcBef>
              <a:buFont typeface="Arial"/>
              <a:buChar char="•"/>
              <a:tabLst>
                <a:tab pos="354965" algn="l"/>
              </a:tabLst>
            </a:pPr>
            <a:r>
              <a:rPr lang="en-US" sz="2000">
                <a:latin typeface="Times New Roman"/>
                <a:cs typeface="Times New Roman"/>
              </a:rPr>
              <a:t>A patient books an appointment with a dermatologist and receives a QR code after approval, which they use to access their medical report securely.</a:t>
            </a:r>
          </a:p>
          <a:p>
            <a:pPr marL="12700" algn="just">
              <a:lnSpc>
                <a:spcPct val="100000"/>
              </a:lnSpc>
              <a:spcBef>
                <a:spcPts val="105"/>
              </a:spcBef>
              <a:tabLst>
                <a:tab pos="354965" algn="l"/>
              </a:tabLst>
            </a:pPr>
            <a:r>
              <a:rPr lang="en-US" sz="2000" b="1">
                <a:latin typeface="Times New Roman"/>
                <a:cs typeface="Times New Roman"/>
              </a:rPr>
              <a:t>User B</a:t>
            </a:r>
          </a:p>
          <a:p>
            <a:pPr marL="354965" indent="-342265" algn="just">
              <a:lnSpc>
                <a:spcPct val="100000"/>
              </a:lnSpc>
              <a:spcBef>
                <a:spcPts val="105"/>
              </a:spcBef>
              <a:buFont typeface="Arial"/>
              <a:buChar char="•"/>
              <a:tabLst>
                <a:tab pos="354965" algn="l"/>
              </a:tabLst>
            </a:pPr>
            <a:r>
              <a:rPr lang="en-US" sz="2000">
                <a:latin typeface="Times New Roman"/>
                <a:cs typeface="Times New Roman"/>
              </a:rPr>
              <a:t>A doctor manages appointments through a dashboard—approving or rejecting requests and checking patient details efficiently.</a:t>
            </a:r>
          </a:p>
          <a:p>
            <a:pPr marL="12700" algn="just">
              <a:lnSpc>
                <a:spcPct val="100000"/>
              </a:lnSpc>
              <a:spcBef>
                <a:spcPts val="105"/>
              </a:spcBef>
              <a:tabLst>
                <a:tab pos="354965" algn="l"/>
              </a:tabLst>
            </a:pPr>
            <a:r>
              <a:rPr lang="en-US" sz="2000" b="1">
                <a:latin typeface="Times New Roman"/>
                <a:cs typeface="Times New Roman"/>
              </a:rPr>
              <a:t>User C</a:t>
            </a:r>
          </a:p>
          <a:p>
            <a:pPr marL="354965" indent="-342265" algn="just">
              <a:lnSpc>
                <a:spcPct val="100000"/>
              </a:lnSpc>
              <a:spcBef>
                <a:spcPts val="105"/>
              </a:spcBef>
              <a:buFont typeface="Arial"/>
              <a:buChar char="•"/>
              <a:tabLst>
                <a:tab pos="354965" algn="l"/>
              </a:tabLst>
            </a:pPr>
            <a:r>
              <a:rPr lang="en-US" sz="2000">
                <a:latin typeface="Times New Roman"/>
                <a:cs typeface="Times New Roman"/>
              </a:rPr>
              <a:t>A receptionist scans QR codes to instantly verify appointments, eliminating the need for manual registers or paper slips.</a:t>
            </a:r>
          </a:p>
          <a:p>
            <a:pPr marL="12700" algn="just">
              <a:lnSpc>
                <a:spcPct val="100000"/>
              </a:lnSpc>
              <a:spcBef>
                <a:spcPts val="105"/>
              </a:spcBef>
              <a:tabLst>
                <a:tab pos="354965" algn="l"/>
              </a:tabLst>
            </a:pPr>
            <a:r>
              <a:rPr lang="en-US" sz="2000" b="1">
                <a:latin typeface="Times New Roman"/>
                <a:cs typeface="Times New Roman"/>
              </a:rPr>
              <a:t>User D</a:t>
            </a:r>
          </a:p>
          <a:p>
            <a:pPr marL="354965" indent="-342265" algn="just">
              <a:lnSpc>
                <a:spcPct val="100000"/>
              </a:lnSpc>
              <a:spcBef>
                <a:spcPts val="105"/>
              </a:spcBef>
              <a:buFont typeface="Arial"/>
              <a:buChar char="•"/>
              <a:tabLst>
                <a:tab pos="354965" algn="l"/>
              </a:tabLst>
            </a:pPr>
            <a:r>
              <a:rPr lang="en-US" sz="2000">
                <a:latin typeface="Times New Roman"/>
                <a:cs typeface="Times New Roman"/>
              </a:rPr>
              <a:t>A diagnostic lab uploads reports to the system, allowing patients to scan their QR code and download results quickly and securely.</a:t>
            </a:r>
          </a:p>
          <a:p>
            <a:pPr marL="354965" indent="-342265" algn="just">
              <a:lnSpc>
                <a:spcPct val="100000"/>
              </a:lnSpc>
              <a:spcBef>
                <a:spcPts val="105"/>
              </a:spcBef>
              <a:buFont typeface="Arial"/>
              <a:buChar char="•"/>
              <a:tabLst>
                <a:tab pos="354965" algn="l"/>
              </a:tabLst>
            </a:pPr>
            <a:endParaRPr lang="en-US" sz="2000">
              <a:latin typeface="Times New Roman"/>
              <a:cs typeface="Times New Roman"/>
            </a:endParaRPr>
          </a:p>
          <a:p>
            <a:pPr marL="12700" algn="just">
              <a:lnSpc>
                <a:spcPct val="100000"/>
              </a:lnSpc>
              <a:spcBef>
                <a:spcPts val="105"/>
              </a:spcBef>
              <a:tabLst>
                <a:tab pos="354965" algn="l"/>
              </a:tabLst>
            </a:pPr>
            <a:r>
              <a:rPr lang="en-US" sz="2000">
                <a:latin typeface="Times New Roman"/>
                <a:cs typeface="Times New Roman"/>
              </a:rPr>
              <a:t>These scenarios show how </a:t>
            </a:r>
            <a:r>
              <a:rPr lang="en-US" sz="2000" err="1">
                <a:latin typeface="Times New Roman"/>
                <a:cs typeface="Times New Roman"/>
              </a:rPr>
              <a:t>DoctorDirect</a:t>
            </a:r>
            <a:r>
              <a:rPr lang="en-US" sz="2000">
                <a:latin typeface="Times New Roman"/>
                <a:cs typeface="Times New Roman"/>
              </a:rPr>
              <a:t> simplifies healthcare workflows for patients, doctors, and clinics.</a:t>
            </a:r>
            <a:endParaRPr sz="20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5847-9AD5-A1C6-9596-840348EB0C4D}"/>
              </a:ext>
            </a:extLst>
          </p:cNvPr>
          <p:cNvSpPr>
            <a:spLocks noGrp="1"/>
          </p:cNvSpPr>
          <p:nvPr>
            <p:ph type="title"/>
          </p:nvPr>
        </p:nvSpPr>
        <p:spPr>
          <a:xfrm>
            <a:off x="2311298" y="5990591"/>
            <a:ext cx="3413760" cy="276999"/>
          </a:xfrm>
        </p:spPr>
        <p:txBody>
          <a:bodyPr/>
          <a:lstStyle/>
          <a:p>
            <a:pPr algn="ctr"/>
            <a:r>
              <a:rPr lang="en-US" sz="1800" dirty="0"/>
              <a:t>Fig. 1 (Home page)</a:t>
            </a:r>
          </a:p>
        </p:txBody>
      </p:sp>
      <p:sp>
        <p:nvSpPr>
          <p:cNvPr id="3" name="Text Placeholder 2">
            <a:extLst>
              <a:ext uri="{FF2B5EF4-FFF2-40B4-BE49-F238E27FC236}">
                <a16:creationId xmlns:a16="http://schemas.microsoft.com/office/drawing/2014/main" id="{A28EF133-7280-5C8B-AD80-7535FA241BE0}"/>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A607E861-0714-A8FB-47C7-C483AFEA6B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02937"/>
            <a:ext cx="9144000" cy="4930218"/>
          </a:xfrm>
          <a:prstGeom prst="rect">
            <a:avLst/>
          </a:prstGeom>
        </p:spPr>
      </p:pic>
    </p:spTree>
    <p:extLst>
      <p:ext uri="{BB962C8B-B14F-4D97-AF65-F5344CB8AC3E}">
        <p14:creationId xmlns:p14="http://schemas.microsoft.com/office/powerpoint/2010/main" val="763753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02B8A-39BA-CE45-6F0C-E367DB93F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1C64A-C4CF-1C4E-6CDD-08F55E940F84}"/>
              </a:ext>
            </a:extLst>
          </p:cNvPr>
          <p:cNvSpPr>
            <a:spLocks noGrp="1"/>
          </p:cNvSpPr>
          <p:nvPr>
            <p:ph type="title"/>
          </p:nvPr>
        </p:nvSpPr>
        <p:spPr>
          <a:xfrm>
            <a:off x="2707224" y="5967166"/>
            <a:ext cx="3413760" cy="276999"/>
          </a:xfrm>
        </p:spPr>
        <p:txBody>
          <a:bodyPr/>
          <a:lstStyle/>
          <a:p>
            <a:pPr algn="ctr"/>
            <a:r>
              <a:rPr lang="en-US" sz="1800" dirty="0"/>
              <a:t>Fig. 2 (Login page)</a:t>
            </a:r>
          </a:p>
        </p:txBody>
      </p:sp>
      <p:sp>
        <p:nvSpPr>
          <p:cNvPr id="3" name="Text Placeholder 2">
            <a:extLst>
              <a:ext uri="{FF2B5EF4-FFF2-40B4-BE49-F238E27FC236}">
                <a16:creationId xmlns:a16="http://schemas.microsoft.com/office/drawing/2014/main" id="{5AAB43B2-54FB-FC18-4488-4AB616FEE142}"/>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8FEE5EFB-9C7D-B113-95D9-F7ACFA00D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2491"/>
            <a:ext cx="9144000" cy="4744675"/>
          </a:xfrm>
          <a:prstGeom prst="rect">
            <a:avLst/>
          </a:prstGeom>
        </p:spPr>
      </p:pic>
    </p:spTree>
    <p:extLst>
      <p:ext uri="{BB962C8B-B14F-4D97-AF65-F5344CB8AC3E}">
        <p14:creationId xmlns:p14="http://schemas.microsoft.com/office/powerpoint/2010/main" val="287827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6AFC2-A5FC-ABCD-D933-8A2AFE18D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E2D57-4BD2-CA95-D73B-596D9936F0A4}"/>
              </a:ext>
            </a:extLst>
          </p:cNvPr>
          <p:cNvSpPr>
            <a:spLocks noGrp="1"/>
          </p:cNvSpPr>
          <p:nvPr>
            <p:ph type="title"/>
          </p:nvPr>
        </p:nvSpPr>
        <p:spPr>
          <a:xfrm>
            <a:off x="2631809" y="5890226"/>
            <a:ext cx="3413760" cy="276999"/>
          </a:xfrm>
        </p:spPr>
        <p:txBody>
          <a:bodyPr/>
          <a:lstStyle/>
          <a:p>
            <a:pPr algn="ctr"/>
            <a:r>
              <a:rPr lang="en-US" sz="1800" dirty="0"/>
              <a:t>Fig. 3 (Signup page)</a:t>
            </a:r>
          </a:p>
        </p:txBody>
      </p:sp>
      <p:sp>
        <p:nvSpPr>
          <p:cNvPr id="3" name="Text Placeholder 2">
            <a:extLst>
              <a:ext uri="{FF2B5EF4-FFF2-40B4-BE49-F238E27FC236}">
                <a16:creationId xmlns:a16="http://schemas.microsoft.com/office/drawing/2014/main" id="{E8323EE7-AF51-6A32-9620-959AEC3DA048}"/>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031EC215-E3CB-2B68-6363-D1DABAE05B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7310"/>
            <a:ext cx="9144000" cy="4607882"/>
          </a:xfrm>
          <a:prstGeom prst="rect">
            <a:avLst/>
          </a:prstGeom>
        </p:spPr>
      </p:pic>
    </p:spTree>
    <p:extLst>
      <p:ext uri="{BB962C8B-B14F-4D97-AF65-F5344CB8AC3E}">
        <p14:creationId xmlns:p14="http://schemas.microsoft.com/office/powerpoint/2010/main" val="2761956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0E45C-01EC-BC52-B01A-5DD9F2A76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B160E3-938F-BA24-DD26-7CCFD3F73158}"/>
              </a:ext>
            </a:extLst>
          </p:cNvPr>
          <p:cNvSpPr>
            <a:spLocks noGrp="1"/>
          </p:cNvSpPr>
          <p:nvPr>
            <p:ph type="title"/>
          </p:nvPr>
        </p:nvSpPr>
        <p:spPr>
          <a:xfrm>
            <a:off x="2650662" y="6087031"/>
            <a:ext cx="3413760" cy="276999"/>
          </a:xfrm>
        </p:spPr>
        <p:txBody>
          <a:bodyPr/>
          <a:lstStyle/>
          <a:p>
            <a:pPr algn="ctr"/>
            <a:r>
              <a:rPr lang="en-US" sz="1800" dirty="0"/>
              <a:t>Fig. 4 (Booking Requests)</a:t>
            </a:r>
          </a:p>
        </p:txBody>
      </p:sp>
      <p:sp>
        <p:nvSpPr>
          <p:cNvPr id="3" name="Text Placeholder 2">
            <a:extLst>
              <a:ext uri="{FF2B5EF4-FFF2-40B4-BE49-F238E27FC236}">
                <a16:creationId xmlns:a16="http://schemas.microsoft.com/office/drawing/2014/main" id="{B717AB05-D3F5-B648-E01D-51C477E76641}"/>
              </a:ext>
            </a:extLst>
          </p:cNvPr>
          <p:cNvSpPr>
            <a:spLocks noGrp="1"/>
          </p:cNvSpPr>
          <p:nvPr>
            <p:ph type="body" idx="1"/>
          </p:nvPr>
        </p:nvSpPr>
        <p:spPr/>
        <p:txBody>
          <a:bodyPr/>
          <a:lstStyle/>
          <a:p>
            <a:endParaRPr lang="en-US" dirty="0"/>
          </a:p>
        </p:txBody>
      </p:sp>
      <p:pic>
        <p:nvPicPr>
          <p:cNvPr id="6" name="Picture 5">
            <a:extLst>
              <a:ext uri="{FF2B5EF4-FFF2-40B4-BE49-F238E27FC236}">
                <a16:creationId xmlns:a16="http://schemas.microsoft.com/office/drawing/2014/main" id="{52020F1C-5912-0797-69DD-46610F5EB8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6168"/>
            <a:ext cx="9144000" cy="4710999"/>
          </a:xfrm>
          <a:prstGeom prst="rect">
            <a:avLst/>
          </a:prstGeom>
        </p:spPr>
      </p:pic>
    </p:spTree>
    <p:extLst>
      <p:ext uri="{BB962C8B-B14F-4D97-AF65-F5344CB8AC3E}">
        <p14:creationId xmlns:p14="http://schemas.microsoft.com/office/powerpoint/2010/main" val="599527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62E70-9BAB-3A5D-DAAB-1D49520DE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8D39E-A095-FF0D-9A25-D60A850965A7}"/>
              </a:ext>
            </a:extLst>
          </p:cNvPr>
          <p:cNvSpPr>
            <a:spLocks noGrp="1"/>
          </p:cNvSpPr>
          <p:nvPr>
            <p:ph type="title"/>
          </p:nvPr>
        </p:nvSpPr>
        <p:spPr>
          <a:xfrm rot="10800000" flipV="1">
            <a:off x="2603529" y="6216289"/>
            <a:ext cx="3413760" cy="276999"/>
          </a:xfrm>
        </p:spPr>
        <p:txBody>
          <a:bodyPr/>
          <a:lstStyle/>
          <a:p>
            <a:pPr algn="ctr"/>
            <a:r>
              <a:rPr lang="en-US" sz="1800" dirty="0"/>
              <a:t>Fig. 5 (Special Services)</a:t>
            </a:r>
          </a:p>
        </p:txBody>
      </p:sp>
      <p:sp>
        <p:nvSpPr>
          <p:cNvPr id="3" name="Text Placeholder 2">
            <a:extLst>
              <a:ext uri="{FF2B5EF4-FFF2-40B4-BE49-F238E27FC236}">
                <a16:creationId xmlns:a16="http://schemas.microsoft.com/office/drawing/2014/main" id="{E3C203CB-E5F2-C73F-4D40-637A63632D89}"/>
              </a:ext>
            </a:extLst>
          </p:cNvPr>
          <p:cNvSpPr>
            <a:spLocks noGrp="1"/>
          </p:cNvSpPr>
          <p:nvPr>
            <p:ph type="body" idx="1"/>
          </p:nvPr>
        </p:nvSpPr>
        <p:spPr/>
        <p:txBody>
          <a:bodyPr/>
          <a:lstStyle/>
          <a:p>
            <a:endParaRPr lang="en-US" dirty="0"/>
          </a:p>
        </p:txBody>
      </p:sp>
      <p:pic>
        <p:nvPicPr>
          <p:cNvPr id="8" name="Picture 7">
            <a:extLst>
              <a:ext uri="{FF2B5EF4-FFF2-40B4-BE49-F238E27FC236}">
                <a16:creationId xmlns:a16="http://schemas.microsoft.com/office/drawing/2014/main" id="{1630669B-D4B1-3A17-52F1-9EEEDDFDB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1328"/>
            <a:ext cx="9144000" cy="4736411"/>
          </a:xfrm>
          <a:prstGeom prst="rect">
            <a:avLst/>
          </a:prstGeom>
        </p:spPr>
      </p:pic>
    </p:spTree>
    <p:extLst>
      <p:ext uri="{BB962C8B-B14F-4D97-AF65-F5344CB8AC3E}">
        <p14:creationId xmlns:p14="http://schemas.microsoft.com/office/powerpoint/2010/main" val="1590500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47706-B64C-B50E-269E-FB6E5CDA54EE}"/>
              </a:ext>
            </a:extLst>
          </p:cNvPr>
          <p:cNvSpPr>
            <a:spLocks noGrp="1"/>
          </p:cNvSpPr>
          <p:nvPr>
            <p:ph type="title"/>
          </p:nvPr>
        </p:nvSpPr>
        <p:spPr>
          <a:xfrm>
            <a:off x="1887092" y="108331"/>
            <a:ext cx="3413760" cy="492443"/>
          </a:xfrm>
        </p:spPr>
        <p:txBody>
          <a:bodyPr/>
          <a:lstStyle/>
          <a:p>
            <a:r>
              <a:rPr lang="en-US" dirty="0"/>
              <a:t>System Architecture</a:t>
            </a:r>
            <a:endParaRPr lang="en-IN" dirty="0"/>
          </a:p>
        </p:txBody>
      </p:sp>
      <p:pic>
        <p:nvPicPr>
          <p:cNvPr id="5" name="Picture 4">
            <a:extLst>
              <a:ext uri="{FF2B5EF4-FFF2-40B4-BE49-F238E27FC236}">
                <a16:creationId xmlns:a16="http://schemas.microsoft.com/office/drawing/2014/main" id="{6BD6CA05-0D29-797E-3BEE-85EBA876D1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981" y="1006158"/>
            <a:ext cx="5309419" cy="5712542"/>
          </a:xfrm>
          <a:prstGeom prst="rect">
            <a:avLst/>
          </a:prstGeom>
        </p:spPr>
      </p:pic>
    </p:spTree>
    <p:extLst>
      <p:ext uri="{BB962C8B-B14F-4D97-AF65-F5344CB8AC3E}">
        <p14:creationId xmlns:p14="http://schemas.microsoft.com/office/powerpoint/2010/main" val="403265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64235">
              <a:lnSpc>
                <a:spcPct val="100000"/>
              </a:lnSpc>
              <a:spcBef>
                <a:spcPts val="100"/>
              </a:spcBef>
            </a:pPr>
            <a:r>
              <a:rPr spc="-10"/>
              <a:t>Methodology</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17</a:t>
            </a:fld>
            <a:endParaRPr spc="-25"/>
          </a:p>
        </p:txBody>
      </p:sp>
      <p:sp>
        <p:nvSpPr>
          <p:cNvPr id="3" name="object 3"/>
          <p:cNvSpPr txBox="1"/>
          <p:nvPr/>
        </p:nvSpPr>
        <p:spPr>
          <a:xfrm>
            <a:off x="497460" y="986613"/>
            <a:ext cx="7321550" cy="5656036"/>
          </a:xfrm>
          <a:prstGeom prst="rect">
            <a:avLst/>
          </a:prstGeom>
        </p:spPr>
        <p:txBody>
          <a:bodyPr vert="horz" wrap="square" lIns="0" tIns="13335" rIns="0" bIns="0" rtlCol="0">
            <a:spAutoFit/>
          </a:bodyPr>
          <a:lstStyle/>
          <a:p>
            <a:pPr marL="100330" indent="-97155" algn="just">
              <a:lnSpc>
                <a:spcPct val="100000"/>
              </a:lnSpc>
              <a:spcBef>
                <a:spcPts val="105"/>
              </a:spcBef>
              <a:buSzPct val="95000"/>
              <a:buFont typeface="Arial"/>
              <a:buChar char="•"/>
              <a:tabLst>
                <a:tab pos="100330" algn="l"/>
              </a:tabLst>
            </a:pPr>
            <a:r>
              <a:rPr lang="en-US" sz="2000">
                <a:latin typeface="Times New Roman" panose="02020603050405020304" pitchFamily="18" charset="0"/>
                <a:cs typeface="Times New Roman" panose="02020603050405020304" pitchFamily="18" charset="0"/>
              </a:rPr>
              <a:t> Followed Agile methodology to plan, develop, and iterate features like appointment booking, QR-based report access, and role-based dashboards.</a:t>
            </a:r>
          </a:p>
          <a:p>
            <a:pPr marL="100330" indent="-97155" algn="just">
              <a:lnSpc>
                <a:spcPct val="100000"/>
              </a:lnSpc>
              <a:spcBef>
                <a:spcPts val="105"/>
              </a:spcBef>
              <a:buSzPct val="95000"/>
              <a:buFont typeface="Arial"/>
              <a:buChar char="•"/>
              <a:tabLst>
                <a:tab pos="100330" algn="l"/>
              </a:tabLst>
            </a:pPr>
            <a:endParaRPr lang="en-US" sz="2000">
              <a:latin typeface="Times New Roman" panose="02020603050405020304" pitchFamily="18" charset="0"/>
              <a:cs typeface="Times New Roman" panose="02020603050405020304" pitchFamily="18" charset="0"/>
            </a:endParaRPr>
          </a:p>
          <a:p>
            <a:pPr marL="100330" indent="-97155" algn="just">
              <a:lnSpc>
                <a:spcPct val="100000"/>
              </a:lnSpc>
              <a:spcBef>
                <a:spcPts val="105"/>
              </a:spcBef>
              <a:buSzPct val="95000"/>
              <a:buFont typeface="Arial"/>
              <a:buChar char="•"/>
              <a:tabLst>
                <a:tab pos="100330" algn="l"/>
              </a:tabLst>
            </a:pPr>
            <a:r>
              <a:rPr lang="en-US" sz="2000">
                <a:latin typeface="Times New Roman" panose="02020603050405020304" pitchFamily="18" charset="0"/>
                <a:cs typeface="Times New Roman" panose="02020603050405020304" pitchFamily="18" charset="0"/>
              </a:rPr>
              <a:t> Designed the frontend using React.js and Tailwind CSS to ensure a clean, responsive, and user-friendly interface for both patients and doctors.</a:t>
            </a:r>
          </a:p>
          <a:p>
            <a:pPr marL="100330" indent="-97155" algn="just">
              <a:lnSpc>
                <a:spcPct val="100000"/>
              </a:lnSpc>
              <a:spcBef>
                <a:spcPts val="105"/>
              </a:spcBef>
              <a:buSzPct val="95000"/>
              <a:buFont typeface="Arial"/>
              <a:buChar char="•"/>
              <a:tabLst>
                <a:tab pos="100330" algn="l"/>
              </a:tabLst>
            </a:pPr>
            <a:endParaRPr lang="en-US" sz="2000">
              <a:latin typeface="Times New Roman" panose="02020603050405020304" pitchFamily="18" charset="0"/>
              <a:cs typeface="Times New Roman" panose="02020603050405020304" pitchFamily="18" charset="0"/>
            </a:endParaRPr>
          </a:p>
          <a:p>
            <a:pPr marL="100330" indent="-97155" algn="just">
              <a:lnSpc>
                <a:spcPct val="100000"/>
              </a:lnSpc>
              <a:spcBef>
                <a:spcPts val="105"/>
              </a:spcBef>
              <a:buSzPct val="95000"/>
              <a:buFont typeface="Arial"/>
              <a:buChar char="•"/>
              <a:tabLst>
                <a:tab pos="100330" algn="l"/>
              </a:tabLst>
            </a:pPr>
            <a:r>
              <a:rPr lang="en-US" sz="2000">
                <a:latin typeface="Times New Roman" panose="02020603050405020304" pitchFamily="18" charset="0"/>
                <a:cs typeface="Times New Roman" panose="02020603050405020304" pitchFamily="18" charset="0"/>
              </a:rPr>
              <a:t> Developed the backend with Node.js and Express.js, implementing RESTful APIs, JWT-based authentication, and role-specific functionality.</a:t>
            </a:r>
          </a:p>
          <a:p>
            <a:pPr marL="100330" indent="-97155" algn="just">
              <a:lnSpc>
                <a:spcPct val="100000"/>
              </a:lnSpc>
              <a:spcBef>
                <a:spcPts val="105"/>
              </a:spcBef>
              <a:buSzPct val="95000"/>
              <a:buFont typeface="Arial"/>
              <a:buChar char="•"/>
              <a:tabLst>
                <a:tab pos="100330" algn="l"/>
              </a:tabLst>
            </a:pPr>
            <a:endParaRPr lang="en-US" sz="2000">
              <a:latin typeface="Times New Roman" panose="02020603050405020304" pitchFamily="18" charset="0"/>
              <a:cs typeface="Times New Roman" panose="02020603050405020304" pitchFamily="18" charset="0"/>
            </a:endParaRPr>
          </a:p>
          <a:p>
            <a:pPr marL="100330" indent="-97155" algn="just">
              <a:lnSpc>
                <a:spcPct val="100000"/>
              </a:lnSpc>
              <a:spcBef>
                <a:spcPts val="105"/>
              </a:spcBef>
              <a:buSzPct val="95000"/>
              <a:buFont typeface="Arial"/>
              <a:buChar char="•"/>
              <a:tabLst>
                <a:tab pos="100330" algn="l"/>
              </a:tabLst>
            </a:pPr>
            <a:r>
              <a:rPr lang="en-US" sz="2000">
                <a:latin typeface="Times New Roman" panose="02020603050405020304" pitchFamily="18" charset="0"/>
                <a:cs typeface="Times New Roman" panose="02020603050405020304" pitchFamily="18" charset="0"/>
              </a:rPr>
              <a:t> Used MongoDB with Mongoose to handle structured data for users, appointments, and reports with flexibility and scalability.</a:t>
            </a:r>
          </a:p>
          <a:p>
            <a:pPr marL="100330" indent="-97155" algn="just">
              <a:lnSpc>
                <a:spcPct val="100000"/>
              </a:lnSpc>
              <a:spcBef>
                <a:spcPts val="105"/>
              </a:spcBef>
              <a:buSzPct val="95000"/>
              <a:buFont typeface="Arial"/>
              <a:buChar char="•"/>
              <a:tabLst>
                <a:tab pos="100330" algn="l"/>
              </a:tabLst>
            </a:pPr>
            <a:endParaRPr lang="en-US" sz="2000">
              <a:latin typeface="Times New Roman" panose="02020603050405020304" pitchFamily="18" charset="0"/>
              <a:cs typeface="Times New Roman" panose="02020603050405020304" pitchFamily="18" charset="0"/>
            </a:endParaRPr>
          </a:p>
          <a:p>
            <a:pPr marL="100330" indent="-97155" algn="just">
              <a:lnSpc>
                <a:spcPct val="100000"/>
              </a:lnSpc>
              <a:spcBef>
                <a:spcPts val="105"/>
              </a:spcBef>
              <a:buSzPct val="95000"/>
              <a:buFont typeface="Arial"/>
              <a:buChar char="•"/>
              <a:tabLst>
                <a:tab pos="100330" algn="l"/>
              </a:tabLst>
            </a:pPr>
            <a:r>
              <a:rPr lang="en-US" sz="2000">
                <a:latin typeface="Times New Roman" panose="02020603050405020304" pitchFamily="18" charset="0"/>
                <a:cs typeface="Times New Roman" panose="02020603050405020304" pitchFamily="18" charset="0"/>
              </a:rPr>
              <a:t> Tested backend APIs using Postman, and maintained a modular, scalable codebase prepared for future features like notifications and video consultation.</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43" rIns="0" bIns="0" rtlCol="0">
            <a:spAutoFit/>
          </a:bodyPr>
          <a:lstStyle/>
          <a:p>
            <a:pPr marL="94615">
              <a:lnSpc>
                <a:spcPct val="100000"/>
              </a:lnSpc>
              <a:spcBef>
                <a:spcPts val="105"/>
              </a:spcBef>
            </a:pPr>
            <a:r>
              <a:rPr spc="-10"/>
              <a:t>Technology</a:t>
            </a:r>
            <a:r>
              <a:rPr spc="-185"/>
              <a:t> </a:t>
            </a:r>
            <a:r>
              <a:rPr spc="-20"/>
              <a:t>Stack</a:t>
            </a:r>
          </a:p>
        </p:txBody>
      </p:sp>
      <p:sp>
        <p:nvSpPr>
          <p:cNvPr id="3" name="object 3"/>
          <p:cNvSpPr txBox="1"/>
          <p:nvPr/>
        </p:nvSpPr>
        <p:spPr>
          <a:xfrm>
            <a:off x="385470" y="1118692"/>
            <a:ext cx="8301330" cy="4744247"/>
          </a:xfrm>
          <a:prstGeom prst="rect">
            <a:avLst/>
          </a:prstGeom>
        </p:spPr>
        <p:txBody>
          <a:bodyPr vert="horz" wrap="square" lIns="0" tIns="12065" rIns="0" bIns="0" rtlCol="0">
            <a:spAutoFit/>
          </a:bodyPr>
          <a:lstStyle/>
          <a:p>
            <a:pPr marL="101600">
              <a:lnSpc>
                <a:spcPct val="100000"/>
              </a:lnSpc>
              <a:spcBef>
                <a:spcPts val="95"/>
              </a:spcBef>
            </a:pPr>
            <a:r>
              <a:rPr lang="en-US" sz="2000" b="1" spc="-55">
                <a:latin typeface="Times New Roman"/>
                <a:cs typeface="Times New Roman"/>
              </a:rPr>
              <a:t>Development Approach:</a:t>
            </a:r>
          </a:p>
          <a:p>
            <a:pPr marL="101600">
              <a:lnSpc>
                <a:spcPct val="100000"/>
              </a:lnSpc>
              <a:spcBef>
                <a:spcPts val="95"/>
              </a:spcBef>
            </a:pPr>
            <a:r>
              <a:rPr lang="en-US" sz="2000" spc="-55">
                <a:latin typeface="Times New Roman"/>
                <a:cs typeface="Times New Roman"/>
              </a:rPr>
              <a:t>Followed Agile methodology for planning and iterative development of features like appointment booking, QR report access, and dashboards.</a:t>
            </a:r>
          </a:p>
          <a:p>
            <a:pPr marL="101600">
              <a:lnSpc>
                <a:spcPct val="100000"/>
              </a:lnSpc>
              <a:spcBef>
                <a:spcPts val="95"/>
              </a:spcBef>
            </a:pPr>
            <a:r>
              <a:rPr lang="en-US" sz="2000" b="1" spc="-55">
                <a:latin typeface="Times New Roman"/>
                <a:cs typeface="Times New Roman"/>
              </a:rPr>
              <a:t>Frontend</a:t>
            </a:r>
            <a:r>
              <a:rPr lang="en-US" sz="2000" spc="-55">
                <a:latin typeface="Times New Roman"/>
                <a:cs typeface="Times New Roman"/>
              </a:rPr>
              <a:t>:</a:t>
            </a:r>
          </a:p>
          <a:p>
            <a:pPr marL="101600">
              <a:lnSpc>
                <a:spcPct val="100000"/>
              </a:lnSpc>
              <a:spcBef>
                <a:spcPts val="95"/>
              </a:spcBef>
            </a:pPr>
            <a:r>
              <a:rPr lang="en-US" sz="2000" spc="-55">
                <a:latin typeface="Times New Roman"/>
                <a:cs typeface="Times New Roman"/>
              </a:rPr>
              <a:t>Built using React.js and Tailwind CSS for a responsive, user-friendly, and clean interface across devices.</a:t>
            </a:r>
          </a:p>
          <a:p>
            <a:pPr marL="101600">
              <a:lnSpc>
                <a:spcPct val="100000"/>
              </a:lnSpc>
              <a:spcBef>
                <a:spcPts val="95"/>
              </a:spcBef>
            </a:pPr>
            <a:r>
              <a:rPr lang="en-US" sz="2000" b="1" spc="-55">
                <a:latin typeface="Times New Roman"/>
                <a:cs typeface="Times New Roman"/>
              </a:rPr>
              <a:t>Backend</a:t>
            </a:r>
            <a:r>
              <a:rPr lang="en-US" sz="2000" spc="-55">
                <a:latin typeface="Times New Roman"/>
                <a:cs typeface="Times New Roman"/>
              </a:rPr>
              <a:t>:</a:t>
            </a:r>
          </a:p>
          <a:p>
            <a:pPr marL="101600">
              <a:lnSpc>
                <a:spcPct val="100000"/>
              </a:lnSpc>
              <a:spcBef>
                <a:spcPts val="95"/>
              </a:spcBef>
            </a:pPr>
            <a:r>
              <a:rPr lang="en-US" sz="2000" spc="-55">
                <a:latin typeface="Times New Roman"/>
                <a:cs typeface="Times New Roman"/>
              </a:rPr>
              <a:t>Developed with Node.js and Express.js, implementing RESTful APIs and secure JWT authentication for patient and doctor roles.</a:t>
            </a:r>
          </a:p>
          <a:p>
            <a:pPr marL="101600">
              <a:lnSpc>
                <a:spcPct val="100000"/>
              </a:lnSpc>
              <a:spcBef>
                <a:spcPts val="95"/>
              </a:spcBef>
            </a:pPr>
            <a:r>
              <a:rPr lang="en-US" sz="2000" b="1" spc="-55">
                <a:latin typeface="Times New Roman"/>
                <a:cs typeface="Times New Roman"/>
              </a:rPr>
              <a:t>Database</a:t>
            </a:r>
            <a:r>
              <a:rPr lang="en-US" sz="2000" spc="-55">
                <a:latin typeface="Times New Roman"/>
                <a:cs typeface="Times New Roman"/>
              </a:rPr>
              <a:t>:</a:t>
            </a:r>
          </a:p>
          <a:p>
            <a:pPr marL="101600">
              <a:lnSpc>
                <a:spcPct val="100000"/>
              </a:lnSpc>
              <a:spcBef>
                <a:spcPts val="95"/>
              </a:spcBef>
            </a:pPr>
            <a:r>
              <a:rPr lang="en-US" sz="2000" spc="-55">
                <a:latin typeface="Times New Roman"/>
                <a:cs typeface="Times New Roman"/>
              </a:rPr>
              <a:t>Used MongoDB with Mongoose to store structured data for users, appointments, and reports efficiently.</a:t>
            </a:r>
          </a:p>
          <a:p>
            <a:pPr marL="101600">
              <a:lnSpc>
                <a:spcPct val="100000"/>
              </a:lnSpc>
              <a:spcBef>
                <a:spcPts val="95"/>
              </a:spcBef>
            </a:pPr>
            <a:r>
              <a:rPr lang="en-US" sz="2000" b="1" spc="-55">
                <a:latin typeface="Times New Roman"/>
                <a:cs typeface="Times New Roman"/>
              </a:rPr>
              <a:t>Tools &amp; Testing:</a:t>
            </a:r>
          </a:p>
          <a:p>
            <a:pPr marL="101600">
              <a:lnSpc>
                <a:spcPct val="100000"/>
              </a:lnSpc>
              <a:spcBef>
                <a:spcPts val="95"/>
              </a:spcBef>
            </a:pPr>
            <a:r>
              <a:rPr lang="en-US" sz="2000" spc="-55">
                <a:latin typeface="Times New Roman"/>
                <a:cs typeface="Times New Roman"/>
              </a:rPr>
              <a:t>Tested APIs using Postman and maintained a modular codebase prepared for future updates like notifications and video consultations.</a:t>
            </a:r>
            <a:endParaRPr sz="200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78802" y="-4761"/>
            <a:ext cx="8470265" cy="881380"/>
            <a:chOff x="678802" y="-4761"/>
            <a:chExt cx="8470265" cy="881380"/>
          </a:xfrm>
        </p:grpSpPr>
        <p:sp>
          <p:nvSpPr>
            <p:cNvPr id="3" name="object 3"/>
            <p:cNvSpPr/>
            <p:nvPr/>
          </p:nvSpPr>
          <p:spPr>
            <a:xfrm>
              <a:off x="683564" y="1"/>
              <a:ext cx="8460740" cy="45720"/>
            </a:xfrm>
            <a:custGeom>
              <a:avLst/>
              <a:gdLst/>
              <a:ahLst/>
              <a:cxnLst/>
              <a:rect l="l" t="t" r="r" b="b"/>
              <a:pathLst>
                <a:path w="8460740" h="45720">
                  <a:moveTo>
                    <a:pt x="8460486" y="0"/>
                  </a:moveTo>
                  <a:lnTo>
                    <a:pt x="0" y="0"/>
                  </a:lnTo>
                  <a:lnTo>
                    <a:pt x="0" y="45718"/>
                  </a:lnTo>
                  <a:lnTo>
                    <a:pt x="8460486" y="45718"/>
                  </a:lnTo>
                  <a:lnTo>
                    <a:pt x="8460486" y="0"/>
                  </a:lnTo>
                  <a:close/>
                </a:path>
              </a:pathLst>
            </a:custGeom>
            <a:solidFill>
              <a:srgbClr val="000000"/>
            </a:solidFill>
          </p:spPr>
          <p:txBody>
            <a:bodyPr wrap="square" lIns="0" tIns="0" rIns="0" bIns="0" rtlCol="0"/>
            <a:lstStyle/>
            <a:p>
              <a:endParaRPr/>
            </a:p>
          </p:txBody>
        </p:sp>
        <p:sp>
          <p:nvSpPr>
            <p:cNvPr id="4" name="object 4"/>
            <p:cNvSpPr/>
            <p:nvPr/>
          </p:nvSpPr>
          <p:spPr>
            <a:xfrm>
              <a:off x="683564" y="1"/>
              <a:ext cx="8460740" cy="45720"/>
            </a:xfrm>
            <a:custGeom>
              <a:avLst/>
              <a:gdLst/>
              <a:ahLst/>
              <a:cxnLst/>
              <a:rect l="l" t="t" r="r" b="b"/>
              <a:pathLst>
                <a:path w="8460740" h="45720">
                  <a:moveTo>
                    <a:pt x="0" y="45718"/>
                  </a:moveTo>
                  <a:lnTo>
                    <a:pt x="8460486" y="45718"/>
                  </a:lnTo>
                  <a:lnTo>
                    <a:pt x="8460486" y="0"/>
                  </a:lnTo>
                  <a:lnTo>
                    <a:pt x="0" y="0"/>
                  </a:lnTo>
                  <a:lnTo>
                    <a:pt x="0" y="45718"/>
                  </a:lnTo>
                  <a:close/>
                </a:path>
              </a:pathLst>
            </a:custGeom>
            <a:ln w="9525">
              <a:solidFill>
                <a:srgbClr val="000000"/>
              </a:solidFill>
            </a:ln>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53543" rIns="0" bIns="0" rtlCol="0">
            <a:spAutoFit/>
          </a:bodyPr>
          <a:lstStyle/>
          <a:p>
            <a:pPr marL="271780">
              <a:lnSpc>
                <a:spcPct val="100000"/>
              </a:lnSpc>
              <a:spcBef>
                <a:spcPts val="105"/>
              </a:spcBef>
            </a:pPr>
            <a:r>
              <a:t>Future</a:t>
            </a:r>
            <a:r>
              <a:rPr spc="-30"/>
              <a:t> </a:t>
            </a:r>
            <a:r>
              <a:rPr spc="-10"/>
              <a:t>Scope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19</a:t>
            </a:fld>
            <a:endParaRPr spc="-25"/>
          </a:p>
        </p:txBody>
      </p:sp>
      <p:sp>
        <p:nvSpPr>
          <p:cNvPr id="6" name="object 6"/>
          <p:cNvSpPr txBox="1"/>
          <p:nvPr/>
        </p:nvSpPr>
        <p:spPr>
          <a:xfrm>
            <a:off x="546303" y="1143126"/>
            <a:ext cx="7973059" cy="5066130"/>
          </a:xfrm>
          <a:prstGeom prst="rect">
            <a:avLst/>
          </a:prstGeom>
        </p:spPr>
        <p:txBody>
          <a:bodyPr vert="horz" wrap="square" lIns="0" tIns="13335" rIns="0" bIns="0" rtlCol="0">
            <a:spAutoFit/>
          </a:bodyPr>
          <a:lstStyle/>
          <a:p>
            <a:pPr algn="just">
              <a:lnSpc>
                <a:spcPct val="100000"/>
              </a:lnSpc>
              <a:spcBef>
                <a:spcPts val="105"/>
              </a:spcBef>
              <a:buSzPct val="92500"/>
              <a:tabLst>
                <a:tab pos="100330" algn="l"/>
              </a:tabLst>
            </a:pPr>
            <a:r>
              <a:rPr lang="en-US" sz="2000" b="1" spc="-20" dirty="0">
                <a:latin typeface="Times New Roman" panose="02020603050405020304" pitchFamily="18" charset="0"/>
                <a:cs typeface="Times New Roman" panose="02020603050405020304" pitchFamily="18" charset="0"/>
              </a:rPr>
              <a:t>Voice &amp; Video Consultation:</a:t>
            </a:r>
          </a:p>
          <a:p>
            <a:pPr marL="100330" indent="-100330" algn="just">
              <a:lnSpc>
                <a:spcPct val="100000"/>
              </a:lnSpc>
              <a:spcBef>
                <a:spcPts val="105"/>
              </a:spcBef>
              <a:buSzPct val="92500"/>
              <a:buFont typeface="Arial"/>
              <a:buChar char="•"/>
              <a:tabLst>
                <a:tab pos="100330" algn="l"/>
              </a:tabLst>
            </a:pPr>
            <a:r>
              <a:rPr lang="en-US" sz="2000" spc="-20" dirty="0">
                <a:latin typeface="Times New Roman" panose="02020603050405020304" pitchFamily="18" charset="0"/>
                <a:cs typeface="Times New Roman" panose="02020603050405020304" pitchFamily="18" charset="0"/>
              </a:rPr>
              <a:t>Integrate real-time doctor-patient consultations using WebRTC or third-party APIs like Twilio or Agora for remote healthcare access.</a:t>
            </a:r>
          </a:p>
          <a:p>
            <a:pPr algn="just">
              <a:lnSpc>
                <a:spcPct val="100000"/>
              </a:lnSpc>
              <a:spcBef>
                <a:spcPts val="105"/>
              </a:spcBef>
              <a:buSzPct val="92500"/>
              <a:tabLst>
                <a:tab pos="100330" algn="l"/>
              </a:tabLst>
            </a:pPr>
            <a:r>
              <a:rPr lang="en-US" sz="2000" b="1" spc="-20" dirty="0">
                <a:latin typeface="Times New Roman" panose="02020603050405020304" pitchFamily="18" charset="0"/>
                <a:cs typeface="Times New Roman" panose="02020603050405020304" pitchFamily="18" charset="0"/>
              </a:rPr>
              <a:t>Calendar Sync:</a:t>
            </a:r>
          </a:p>
          <a:p>
            <a:pPr marL="100330" indent="-100330" algn="just">
              <a:lnSpc>
                <a:spcPct val="100000"/>
              </a:lnSpc>
              <a:spcBef>
                <a:spcPts val="105"/>
              </a:spcBef>
              <a:buSzPct val="92500"/>
              <a:buFont typeface="Arial"/>
              <a:buChar char="•"/>
              <a:tabLst>
                <a:tab pos="100330" algn="l"/>
              </a:tabLst>
            </a:pPr>
            <a:r>
              <a:rPr lang="en-US" sz="2000" spc="-20" dirty="0">
                <a:latin typeface="Times New Roman" panose="02020603050405020304" pitchFamily="18" charset="0"/>
                <a:cs typeface="Times New Roman" panose="02020603050405020304" pitchFamily="18" charset="0"/>
              </a:rPr>
              <a:t>Enable integration with Google Calendar or Outlook so patients and doctors receive automated reminders and manage appointments efficiently.</a:t>
            </a:r>
          </a:p>
          <a:p>
            <a:pPr algn="just">
              <a:lnSpc>
                <a:spcPct val="100000"/>
              </a:lnSpc>
              <a:spcBef>
                <a:spcPts val="105"/>
              </a:spcBef>
              <a:buSzPct val="92500"/>
              <a:tabLst>
                <a:tab pos="100330" algn="l"/>
              </a:tabLst>
            </a:pPr>
            <a:r>
              <a:rPr lang="en-US" sz="2000" b="1" spc="-20" dirty="0">
                <a:latin typeface="Times New Roman" panose="02020603050405020304" pitchFamily="18" charset="0"/>
                <a:cs typeface="Times New Roman" panose="02020603050405020304" pitchFamily="18" charset="0"/>
              </a:rPr>
              <a:t>Mobile App Development:</a:t>
            </a:r>
          </a:p>
          <a:p>
            <a:pPr marL="100330" indent="-100330" algn="just">
              <a:lnSpc>
                <a:spcPct val="100000"/>
              </a:lnSpc>
              <a:spcBef>
                <a:spcPts val="105"/>
              </a:spcBef>
              <a:buSzPct val="92500"/>
              <a:buFont typeface="Arial"/>
              <a:buChar char="•"/>
              <a:tabLst>
                <a:tab pos="100330" algn="l"/>
              </a:tabLst>
            </a:pPr>
            <a:r>
              <a:rPr lang="en-US" sz="2000" spc="-20" dirty="0">
                <a:latin typeface="Times New Roman" panose="02020603050405020304" pitchFamily="18" charset="0"/>
                <a:cs typeface="Times New Roman" panose="02020603050405020304" pitchFamily="18" charset="0"/>
              </a:rPr>
              <a:t>Launch a cross-platform mobile app using React Native or Flutter to make the service accessible on smartphones and tablets.</a:t>
            </a:r>
          </a:p>
          <a:p>
            <a:pPr algn="just">
              <a:lnSpc>
                <a:spcPct val="100000"/>
              </a:lnSpc>
              <a:spcBef>
                <a:spcPts val="105"/>
              </a:spcBef>
              <a:buSzPct val="92500"/>
              <a:tabLst>
                <a:tab pos="100330" algn="l"/>
              </a:tabLst>
            </a:pPr>
            <a:r>
              <a:rPr lang="en-US" sz="2000" b="1" spc="-20" dirty="0">
                <a:latin typeface="Times New Roman" panose="02020603050405020304" pitchFamily="18" charset="0"/>
                <a:cs typeface="Times New Roman" panose="02020603050405020304" pitchFamily="18" charset="0"/>
              </a:rPr>
              <a:t>Gamification &amp; Engagement:</a:t>
            </a:r>
          </a:p>
          <a:p>
            <a:pPr marL="100330" indent="-100330" algn="just">
              <a:lnSpc>
                <a:spcPct val="100000"/>
              </a:lnSpc>
              <a:spcBef>
                <a:spcPts val="105"/>
              </a:spcBef>
              <a:buSzPct val="92500"/>
              <a:buFont typeface="Arial"/>
              <a:buChar char="•"/>
              <a:tabLst>
                <a:tab pos="100330" algn="l"/>
              </a:tabLst>
            </a:pPr>
            <a:r>
              <a:rPr lang="en-US" sz="2000" spc="-20" dirty="0">
                <a:latin typeface="Times New Roman" panose="02020603050405020304" pitchFamily="18" charset="0"/>
                <a:cs typeface="Times New Roman" panose="02020603050405020304" pitchFamily="18" charset="0"/>
              </a:rPr>
              <a:t>Introduce features like badges or progress tracking to encourage regular health checkups and proactive healthcare behavior.</a:t>
            </a:r>
          </a:p>
          <a:p>
            <a:pPr algn="just">
              <a:lnSpc>
                <a:spcPct val="100000"/>
              </a:lnSpc>
              <a:spcBef>
                <a:spcPts val="105"/>
              </a:spcBef>
              <a:buSzPct val="92500"/>
              <a:tabLst>
                <a:tab pos="100330" algn="l"/>
              </a:tabLst>
            </a:pPr>
            <a:r>
              <a:rPr lang="en-US" sz="2000" b="1" spc="-20" dirty="0">
                <a:latin typeface="Times New Roman" panose="02020603050405020304" pitchFamily="18" charset="0"/>
                <a:cs typeface="Times New Roman" panose="02020603050405020304" pitchFamily="18" charset="0"/>
              </a:rPr>
              <a:t>Role-Based Access:</a:t>
            </a:r>
          </a:p>
          <a:p>
            <a:pPr marL="100330" indent="-100330" algn="just">
              <a:lnSpc>
                <a:spcPct val="100000"/>
              </a:lnSpc>
              <a:spcBef>
                <a:spcPts val="105"/>
              </a:spcBef>
              <a:buSzPct val="92500"/>
              <a:buFont typeface="Arial"/>
              <a:buChar char="•"/>
              <a:tabLst>
                <a:tab pos="100330" algn="l"/>
              </a:tabLst>
            </a:pPr>
            <a:r>
              <a:rPr lang="en-US" sz="2000" spc="-20" dirty="0">
                <a:latin typeface="Times New Roman" panose="02020603050405020304" pitchFamily="18" charset="0"/>
                <a:cs typeface="Times New Roman" panose="02020603050405020304" pitchFamily="18" charset="0"/>
              </a:rPr>
              <a:t>Implement advanced admin and support roles to help clinics manage multiple doctors, staff, and patient interactions within the system.</a:t>
            </a:r>
          </a:p>
          <a:p>
            <a:pPr marL="100330" indent="-100330" algn="just">
              <a:lnSpc>
                <a:spcPct val="100000"/>
              </a:lnSpc>
              <a:spcBef>
                <a:spcPts val="105"/>
              </a:spcBef>
              <a:buSzPct val="92500"/>
              <a:buFont typeface="Arial"/>
              <a:buChar char="•"/>
              <a:tabLst>
                <a:tab pos="100330" algn="l"/>
              </a:tabLst>
            </a:pPr>
            <a:endParaRPr lang="en-US" sz="2000" spc="-2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543" rIns="0" bIns="0" rtlCol="0">
            <a:spAutoFit/>
          </a:bodyPr>
          <a:lstStyle/>
          <a:p>
            <a:pPr marL="422275">
              <a:lnSpc>
                <a:spcPct val="100000"/>
              </a:lnSpc>
              <a:spcBef>
                <a:spcPts val="105"/>
              </a:spcBef>
            </a:pPr>
            <a:r>
              <a:rPr spc="-10"/>
              <a:t>Conclusion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20</a:t>
            </a:fld>
            <a:endParaRPr spc="-25"/>
          </a:p>
        </p:txBody>
      </p:sp>
      <p:sp>
        <p:nvSpPr>
          <p:cNvPr id="3" name="object 3"/>
          <p:cNvSpPr txBox="1">
            <a:spLocks noGrp="1"/>
          </p:cNvSpPr>
          <p:nvPr>
            <p:ph type="body" idx="1"/>
          </p:nvPr>
        </p:nvSpPr>
        <p:spPr>
          <a:xfrm>
            <a:off x="552094" y="1653031"/>
            <a:ext cx="7961630" cy="3423373"/>
          </a:xfrm>
          <a:prstGeom prst="rect">
            <a:avLst/>
          </a:prstGeom>
        </p:spPr>
        <p:txBody>
          <a:bodyPr vert="horz" wrap="square" lIns="0" tIns="12065" rIns="0" bIns="0" rtlCol="0">
            <a:spAutoFit/>
          </a:bodyPr>
          <a:lstStyle/>
          <a:p>
            <a:pPr marL="12700" marR="24765" algn="just">
              <a:lnSpc>
                <a:spcPct val="100000"/>
              </a:lnSpc>
              <a:spcBef>
                <a:spcPts val="95"/>
              </a:spcBef>
            </a:pPr>
            <a:r>
              <a:rPr lang="en-US" sz="2000" spc="-30" dirty="0" err="1"/>
              <a:t>DoctorDirect</a:t>
            </a:r>
            <a:r>
              <a:rPr lang="en-US" sz="2000" spc="-30" dirty="0"/>
              <a:t> offers a unified platform to streamline doctor-patient interactions through digital appointment booking, real-time status updates, and secure QR-based report access. By combining a responsive React.js frontend with a robust Node.js backend, the application enhances efficiency, transparency, and convenience in healthcare delivery.</a:t>
            </a:r>
          </a:p>
          <a:p>
            <a:pPr marL="12700" marR="24765" algn="just">
              <a:lnSpc>
                <a:spcPct val="100000"/>
              </a:lnSpc>
              <a:spcBef>
                <a:spcPts val="95"/>
              </a:spcBef>
            </a:pPr>
            <a:endParaRPr lang="en-US" sz="2000" spc="-30" dirty="0"/>
          </a:p>
          <a:p>
            <a:pPr marL="12700" marR="24765" algn="just">
              <a:lnSpc>
                <a:spcPct val="100000"/>
              </a:lnSpc>
              <a:spcBef>
                <a:spcPts val="95"/>
              </a:spcBef>
            </a:pPr>
            <a:r>
              <a:rPr lang="en-US" sz="2000" spc="-30" dirty="0"/>
              <a:t>With features like user authentication, role-based access, and report management, </a:t>
            </a:r>
            <a:r>
              <a:rPr lang="en-US" sz="2000" spc="-30" dirty="0" err="1"/>
              <a:t>DoctorDirect</a:t>
            </a:r>
            <a:r>
              <a:rPr lang="en-US" sz="2000" spc="-30" dirty="0"/>
              <a:t> solves key challenges in traditional medical workflows. It also lays the groundwork for future additions such as video consultations, cloud integration, and mobile support — making it a scalable, secure, and patient-friendly solution for modern healthcare systems.</a:t>
            </a:r>
            <a:endParaRPr sz="2000" spc="-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9980" y="2196147"/>
            <a:ext cx="4384040" cy="2465705"/>
          </a:xfrm>
          <a:prstGeom prst="rect">
            <a:avLst/>
          </a:prstGeom>
        </p:spPr>
        <p:txBody>
          <a:bodyPr vert="horz" wrap="square" lIns="0" tIns="13335" rIns="0" bIns="0" rtlCol="0">
            <a:spAutoFit/>
          </a:bodyPr>
          <a:lstStyle/>
          <a:p>
            <a:pPr marL="890269" marR="5080" indent="-878205">
              <a:lnSpc>
                <a:spcPct val="100000"/>
              </a:lnSpc>
              <a:spcBef>
                <a:spcPts val="105"/>
              </a:spcBef>
            </a:pPr>
            <a:r>
              <a:rPr sz="8000">
                <a:solidFill>
                  <a:srgbClr val="221F1F"/>
                </a:solidFill>
              </a:rPr>
              <a:t>T</a:t>
            </a:r>
            <a:r>
              <a:rPr sz="8000" spc="-430">
                <a:solidFill>
                  <a:srgbClr val="221F1F"/>
                </a:solidFill>
              </a:rPr>
              <a:t> </a:t>
            </a:r>
            <a:r>
              <a:rPr sz="8000">
                <a:solidFill>
                  <a:srgbClr val="221F1F"/>
                </a:solidFill>
              </a:rPr>
              <a:t>H</a:t>
            </a:r>
            <a:r>
              <a:rPr sz="8000" spc="-425">
                <a:solidFill>
                  <a:srgbClr val="221F1F"/>
                </a:solidFill>
              </a:rPr>
              <a:t> </a:t>
            </a:r>
            <a:r>
              <a:rPr sz="8000">
                <a:solidFill>
                  <a:srgbClr val="221F1F"/>
                </a:solidFill>
              </a:rPr>
              <a:t>A</a:t>
            </a:r>
            <a:r>
              <a:rPr sz="8000" spc="-425">
                <a:solidFill>
                  <a:srgbClr val="221F1F"/>
                </a:solidFill>
              </a:rPr>
              <a:t> </a:t>
            </a:r>
            <a:r>
              <a:rPr sz="8000">
                <a:solidFill>
                  <a:srgbClr val="221F1F"/>
                </a:solidFill>
              </a:rPr>
              <a:t>N</a:t>
            </a:r>
            <a:r>
              <a:rPr sz="8000" spc="-425">
                <a:solidFill>
                  <a:srgbClr val="221F1F"/>
                </a:solidFill>
              </a:rPr>
              <a:t> </a:t>
            </a:r>
            <a:r>
              <a:rPr sz="8000" spc="-50">
                <a:solidFill>
                  <a:srgbClr val="221F1F"/>
                </a:solidFill>
              </a:rPr>
              <a:t>K </a:t>
            </a:r>
            <a:r>
              <a:rPr sz="8000">
                <a:solidFill>
                  <a:srgbClr val="221F1F"/>
                </a:solidFill>
              </a:rPr>
              <a:t>Y</a:t>
            </a:r>
            <a:r>
              <a:rPr sz="8000" spc="-415">
                <a:solidFill>
                  <a:srgbClr val="221F1F"/>
                </a:solidFill>
              </a:rPr>
              <a:t> </a:t>
            </a:r>
            <a:r>
              <a:rPr sz="8000">
                <a:solidFill>
                  <a:srgbClr val="221F1F"/>
                </a:solidFill>
              </a:rPr>
              <a:t>O</a:t>
            </a:r>
            <a:r>
              <a:rPr sz="8000" spc="-415">
                <a:solidFill>
                  <a:srgbClr val="221F1F"/>
                </a:solidFill>
              </a:rPr>
              <a:t> </a:t>
            </a:r>
            <a:r>
              <a:rPr sz="8000" spc="-50">
                <a:solidFill>
                  <a:srgbClr val="221F1F"/>
                </a:solidFill>
              </a:rPr>
              <a:t>U</a:t>
            </a:r>
            <a:endParaRPr sz="800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spc="-25" dirty="0"/>
              <a:t>21</a:t>
            </a:fld>
            <a:endParaRPr spc="-25"/>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TotalTime>
  <Words>1345</Words>
  <Application>Microsoft Office PowerPoint</Application>
  <PresentationFormat>On-screen Show (4:3)</PresentationFormat>
  <Paragraphs>119</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Times New Roman</vt:lpstr>
      <vt:lpstr>Office Theme</vt:lpstr>
      <vt:lpstr>DoctorDirect IOHE Project</vt:lpstr>
      <vt:lpstr>Content</vt:lpstr>
      <vt:lpstr>Abstract</vt:lpstr>
      <vt:lpstr>Introduction</vt:lpstr>
      <vt:lpstr>Problem Statement</vt:lpstr>
      <vt:lpstr>Objective</vt:lpstr>
      <vt:lpstr>   SDLC</vt:lpstr>
      <vt:lpstr>Significance</vt:lpstr>
      <vt:lpstr>Scope</vt:lpstr>
      <vt:lpstr>Use Cases</vt:lpstr>
      <vt:lpstr>Fig. 1 (Home page)</vt:lpstr>
      <vt:lpstr>Fig. 2 (Login page)</vt:lpstr>
      <vt:lpstr>Fig. 3 (Signup page)</vt:lpstr>
      <vt:lpstr>Fig. 4 (Booking Requests)</vt:lpstr>
      <vt:lpstr>Fig. 5 (Special Services)</vt:lpstr>
      <vt:lpstr>System Architecture</vt:lpstr>
      <vt:lpstr>Methodology</vt:lpstr>
      <vt:lpstr>Technology Stack</vt:lpstr>
      <vt:lpstr>Future Scope</vt:lpstr>
      <vt:lpstr>Conclusion</vt:lpstr>
      <vt:lpstr>T H A N K Y O 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 Vandana Mohindru Sood</dc:creator>
  <cp:lastModifiedBy>Anirudh Jamwal</cp:lastModifiedBy>
  <cp:revision>21</cp:revision>
  <dcterms:created xsi:type="dcterms:W3CDTF">2025-08-04T12:17:19Z</dcterms:created>
  <dcterms:modified xsi:type="dcterms:W3CDTF">2026-04-27T17:21:36Z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2025-08-04T00:00:00Z</vt:filetime>
  </property>
  <property fmtid="{D5CDD505-2E9C-101B-9397-08002B2CF9AE}" pid="3" name="Creator">
    <vt:lpwstr>Microsoft® PowerPoint® 2021</vt:lpwstr>
  </property>
  <property fmtid="{D5CDD505-2E9C-101B-9397-08002B2CF9AE}" pid="4" name="LastSaved">
    <vt:filetime>2025-08-04T00:00:00Z</vt:filetime>
  </property>
  <property fmtid="{D5CDD505-2E9C-101B-9397-08002B2CF9AE}" pid="5" name="Producer">
    <vt:lpwstr>Microsoft® PowerPoint® 2021</vt:lpwstr>
  </property>
</Properties>
</file>